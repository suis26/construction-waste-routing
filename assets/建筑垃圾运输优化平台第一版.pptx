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1" r:id="rId10"/>
    <p:sldId id="263" r:id="rId11"/>
    <p:sldId id="280" r:id="rId12"/>
    <p:sldId id="265" r:id="rId13"/>
    <p:sldId id="271" r:id="rId14"/>
    <p:sldId id="272" r:id="rId15"/>
    <p:sldId id="273" r:id="rId16"/>
    <p:sldId id="270" r:id="rId17"/>
    <p:sldId id="275" r:id="rId18"/>
    <p:sldId id="278" r:id="rId19"/>
  </p:sldIdLst>
  <p:sldSz cx="9144000" cy="5143500" type="screen16x9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616"/>
  </p:normalViewPr>
  <p:slideViewPr>
    <p:cSldViewPr snapToGrid="0">
      <p:cViewPr varScale="1">
        <p:scale>
          <a:sx n="153" d="100"/>
          <a:sy n="153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原稿提出空载、周转、过磅与拒收问题，未附样本和出处。本页以待验证假设呈现。应按空驶里程/总行驶里程统一空驶率口径，不能将通用货运比例视为建筑垃圾专属基准。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377A-617E-8B17-53F7-020A9478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9E92A-0AFF-A12C-AF5D-7ADA463B8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22E07-437B-0C13-888E-129A79AA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10366-89E9-BAB3-8567-5A3DDBABAB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1337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DBB5778-FE7A-4877-9019-54242753C0E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5986" y="4372668"/>
            <a:ext cx="1447390" cy="434495"/>
          </a:xfrm>
        </p:spPr>
        <p:txBody>
          <a:bodyPr anchor="t">
            <a:normAutofit/>
          </a:bodyPr>
          <a:lstStyle>
            <a:lvl1pPr algn="l">
              <a:lnSpc>
                <a:spcPts val="1060"/>
              </a:lnSpc>
              <a:buFontTx/>
              <a:buNone/>
              <a:defRPr sz="1400" b="0" i="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演讲人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D29E9E1-4AD3-2342-82EB-AD74B1FE3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86" y="1399348"/>
            <a:ext cx="4184498" cy="685070"/>
          </a:xfrm>
        </p:spPr>
        <p:txBody>
          <a:bodyPr anchor="t">
            <a:noAutofit/>
          </a:bodyPr>
          <a:lstStyle>
            <a:lvl1pPr algn="l">
              <a:buNone/>
              <a:defRPr sz="3600" b="0" i="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22" name="文本占位符 9">
            <a:extLst>
              <a:ext uri="{FF2B5EF4-FFF2-40B4-BE49-F238E27FC236}">
                <a16:creationId xmlns:a16="http://schemas.microsoft.com/office/drawing/2014/main" id="{D4A39CF4-FBC6-7685-57FC-98CC3596D6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15986" y="2107312"/>
            <a:ext cx="4184498" cy="503583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buFontTx/>
              <a:buNone/>
              <a:defRPr sz="1600" b="0" i="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TITLE OF THE PRESENTATION</a:t>
            </a:r>
          </a:p>
        </p:txBody>
      </p:sp>
      <p:sp>
        <p:nvSpPr>
          <p:cNvPr id="24" name="文本占位符 9">
            <a:extLst>
              <a:ext uri="{FF2B5EF4-FFF2-40B4-BE49-F238E27FC236}">
                <a16:creationId xmlns:a16="http://schemas.microsoft.com/office/drawing/2014/main" id="{0797AB75-E89C-0B21-A77A-9E1F1C49505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963376" y="4372669"/>
            <a:ext cx="1447390" cy="434494"/>
          </a:xfrm>
        </p:spPr>
        <p:txBody>
          <a:bodyPr anchor="t">
            <a:normAutofit/>
          </a:bodyPr>
          <a:lstStyle>
            <a:lvl1pPr algn="l">
              <a:lnSpc>
                <a:spcPts val="1060"/>
              </a:lnSpc>
              <a:buFontTx/>
              <a:buNone/>
              <a:defRPr sz="1400" b="0" i="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日期</a:t>
            </a:r>
          </a:p>
        </p:txBody>
      </p:sp>
      <p:sp>
        <p:nvSpPr>
          <p:cNvPr id="25" name="文本占位符 9">
            <a:extLst>
              <a:ext uri="{FF2B5EF4-FFF2-40B4-BE49-F238E27FC236}">
                <a16:creationId xmlns:a16="http://schemas.microsoft.com/office/drawing/2014/main" id="{156E8451-15D6-CEC9-184E-61D8B05D6DA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15986" y="438532"/>
            <a:ext cx="4184498" cy="38919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400" b="0" i="0" kern="120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marL="171450" lvl="0" indent="-171450" algn="l" defTabSz="685800">
              <a:lnSpc>
                <a:spcPts val="1060"/>
              </a:lnSpc>
              <a:spcBef>
                <a:spcPts val="750"/>
              </a:spcBef>
              <a:buFontTx/>
              <a:buNone/>
            </a:pPr>
            <a:r>
              <a:t>2023年演示文稿模板</a:t>
            </a:r>
          </a:p>
        </p:txBody>
      </p:sp>
      <p:sp>
        <p:nvSpPr>
          <p:cNvPr id="26" name="文本占位符 9">
            <a:extLst>
              <a:ext uri="{FF2B5EF4-FFF2-40B4-BE49-F238E27FC236}">
                <a16:creationId xmlns:a16="http://schemas.microsoft.com/office/drawing/2014/main" id="{261EAE00-2EF7-0078-E408-02A6B0ED73E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15986" y="647249"/>
            <a:ext cx="4184498" cy="40625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400" b="0" i="0" kern="120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marL="171450" lvl="0" indent="-171450" algn="l" defTabSz="685800">
              <a:lnSpc>
                <a:spcPts val="1060"/>
              </a:lnSpc>
              <a:spcBef>
                <a:spcPts val="750"/>
              </a:spcBef>
              <a:buFontTx/>
              <a:buNone/>
            </a:pPr>
            <a:r>
              <a:t>2023 Presentation Template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33A6D9-82D7-4D01-85B4-BAB42CC0DC8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58245" y="518570"/>
            <a:ext cx="3407362" cy="517592"/>
          </a:xfrm>
        </p:spPr>
        <p:txBody>
          <a:bodyPr anchor="ctr">
            <a:noAutofit/>
          </a:bodyPr>
          <a:lstStyle>
            <a:lvl1pPr>
              <a:buFontTx/>
              <a:buNone/>
              <a:defRPr sz="3200" b="0" i="0" kern="120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2pPr>
            <a:lvl3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3pPr>
            <a:lvl4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4pPr>
            <a:lvl5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5pPr>
          </a:lstStyle>
          <a:p>
            <a:pPr lvl="0">
              <a:buNone/>
            </a:pPr>
            <a:r>
              <a:t>目录</a:t>
            </a: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51852C41-4419-F080-A30D-C10C88C173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245" y="984377"/>
            <a:ext cx="3407363" cy="333471"/>
          </a:xfrm>
        </p:spPr>
        <p:txBody>
          <a:bodyPr anchor="t">
            <a:normAutofit/>
          </a:bodyPr>
          <a:lstStyle>
            <a:lvl1pPr>
              <a:buNone/>
              <a:defRPr sz="1600" b="0" i="0" kern="120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</a:lstStyle>
          <a:p>
            <a:pPr marL="0" lvl="0" indent="0" algn="l" defTabSz="685800">
              <a:lnSpc>
                <a:spcPct val="90000"/>
              </a:lnSpc>
              <a:spcBef>
                <a:spcPts val="750"/>
              </a:spcBef>
              <a:buFont typeface="Arial"/>
              <a:buNone/>
            </a:pPr>
            <a:r>
              <a:t>CONTENT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DC010514-ED6D-14A3-107C-0F668E180FF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236923" y="984377"/>
            <a:ext cx="4348832" cy="3531899"/>
          </a:xfrm>
        </p:spPr>
        <p:txBody>
          <a:bodyPr anchor="t">
            <a:noAutofit/>
          </a:bodyPr>
          <a:lstStyle>
            <a:lvl1pPr marL="0" indent="0" algn="l">
              <a:buFontTx/>
              <a:buNone/>
              <a:defRPr sz="2800" b="0" i="0" kern="120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2pPr>
            <a:lvl3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3pPr>
            <a:lvl4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4pPr>
            <a:lvl5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5pPr>
          </a:lstStyle>
          <a:p>
            <a:pPr lvl="0">
              <a:buNone/>
            </a:pPr>
            <a:r>
              <a:t>1        章节标题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CD5CEDD8-0D25-4619-AE53-E963607C320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98952" y="533695"/>
            <a:ext cx="864088" cy="853613"/>
          </a:xfrm>
        </p:spPr>
        <p:txBody>
          <a:bodyPr anchor="ctr">
            <a:noAutofit/>
          </a:bodyPr>
          <a:lstStyle>
            <a:lvl1pPr algn="l">
              <a:buFontTx/>
              <a:buNone/>
              <a:defRPr sz="6000" b="0" i="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>
              <a:buFontTx/>
              <a:buNone/>
              <a:defRPr sz="7000">
                <a:solidFill>
                  <a:schemeClr val="bg1"/>
                </a:solidFill>
                <a:latin typeface="黑体"/>
                <a:ea typeface="黑体"/>
                <a:cs typeface="黑体"/>
              </a:defRPr>
            </a:lvl2pPr>
            <a:lvl3pPr>
              <a:buFontTx/>
              <a:buNone/>
              <a:defRPr sz="7000">
                <a:solidFill>
                  <a:schemeClr val="bg1"/>
                </a:solidFill>
                <a:latin typeface="黑体"/>
                <a:ea typeface="黑体"/>
                <a:cs typeface="黑体"/>
              </a:defRPr>
            </a:lvl3pPr>
            <a:lvl4pPr>
              <a:buFontTx/>
              <a:buNone/>
              <a:defRPr sz="7000">
                <a:solidFill>
                  <a:schemeClr val="bg1"/>
                </a:solidFill>
                <a:latin typeface="黑体"/>
                <a:ea typeface="黑体"/>
                <a:cs typeface="黑体"/>
              </a:defRPr>
            </a:lvl4pPr>
            <a:lvl5pPr>
              <a:buFontTx/>
              <a:buNone/>
              <a:defRPr sz="7000">
                <a:solidFill>
                  <a:schemeClr val="bg1"/>
                </a:solidFill>
                <a:latin typeface="黑体"/>
                <a:ea typeface="黑体"/>
                <a:cs typeface="黑体"/>
              </a:defRPr>
            </a:lvl5pPr>
          </a:lstStyle>
          <a:p>
            <a:pPr lvl="0">
              <a:buNone/>
            </a:pPr>
            <a:r>
              <a:t>1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AD8DD6EE-7144-462B-8660-730DEF622B62}"/>
              </a:ext>
            </a:extLst>
          </p:cNvPr>
          <p:cNvSpPr>
            <a:spLocks noGrp="1"/>
          </p:cNvSpPr>
          <p:nvPr/>
        </p:nvSpPr>
        <p:spPr>
          <a:xfrm flipH="1">
            <a:off x="7562196" y="2598380"/>
            <a:ext cx="2433" cy="562041"/>
          </a:xfrm>
          <a:prstGeom prst="line">
            <a:avLst/>
          </a:prstGeom>
          <a:ln w="19050">
            <a:solidFill>
              <a:schemeClr val="bg1">
                <a:alpha val="487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993418C3-62C6-BFC4-332E-FADD0916289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88579" y="533695"/>
            <a:ext cx="5965057" cy="506934"/>
          </a:xfrm>
        </p:spPr>
        <p:txBody>
          <a:bodyPr anchor="ctr">
            <a:noAutofit/>
          </a:bodyPr>
          <a:lstStyle>
            <a:lvl1pPr algn="l">
              <a:buFontTx/>
              <a:buNone/>
              <a:defRPr sz="3200" b="0" i="0" kern="120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2pPr>
            <a:lvl3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3pPr>
            <a:lvl4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4pPr>
            <a:lvl5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5pPr>
          </a:lstStyle>
          <a:p>
            <a:pPr lvl="0">
              <a:buNone/>
            </a:pPr>
            <a:r>
              <a:t>章节标题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BAD44DB8-03E7-E7EE-C07D-B0217375905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88579" y="1164904"/>
            <a:ext cx="5965057" cy="258941"/>
          </a:xfrm>
        </p:spPr>
        <p:txBody>
          <a:bodyPr anchor="ctr">
            <a:noAutofit/>
          </a:bodyPr>
          <a:lstStyle>
            <a:lvl1pPr algn="l">
              <a:buFontTx/>
              <a:buNone/>
              <a:defRPr sz="1600" b="0" i="0" kern="120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2pPr>
            <a:lvl3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3pPr>
            <a:lvl4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4pPr>
            <a:lvl5pPr>
              <a:buFontTx/>
              <a:buNone/>
              <a:defRPr sz="2000">
                <a:solidFill>
                  <a:srgbClr val="660874"/>
                </a:solidFill>
                <a:latin typeface="思源黑体 CN Bold"/>
                <a:ea typeface="思源黑体 CN Bold"/>
                <a:cs typeface="思源黑体 CN Bold"/>
              </a:defRPr>
            </a:lvl5pPr>
          </a:lstStyle>
          <a:p>
            <a:pPr lvl="0">
              <a:buNone/>
            </a:pPr>
            <a:r>
              <a:t>CHAPTER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6">
            <a:extLst>
              <a:ext uri="{FF2B5EF4-FFF2-40B4-BE49-F238E27FC236}">
                <a16:creationId xmlns:a16="http://schemas.microsoft.com/office/drawing/2014/main" id="{AE1385CA-7775-9D40-9F04-B0A0CE9CF49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4587" y="4464362"/>
            <a:ext cx="4006631" cy="473075"/>
          </a:xfrm>
        </p:spPr>
        <p:txBody>
          <a:bodyPr>
            <a:normAutofit/>
          </a:bodyPr>
          <a:lstStyle>
            <a:lvl1pPr marL="0" indent="0">
              <a:buFont typeface="Wingdings"/>
              <a:buNone/>
              <a:defRPr sz="900" b="0" i="0">
                <a:solidFill>
                  <a:schemeClr val="bg1">
                    <a:lumMod val="65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 lvl="0">
              <a:buNone/>
            </a:pPr>
            <a:r>
              <a:t>参考来源（思源黑体 regular 9）</a:t>
            </a:r>
          </a:p>
        </p:txBody>
      </p:sp>
      <p:sp>
        <p:nvSpPr>
          <p:cNvPr id="2" name="文本占位符 19">
            <a:extLst>
              <a:ext uri="{FF2B5EF4-FFF2-40B4-BE49-F238E27FC236}">
                <a16:creationId xmlns:a16="http://schemas.microsoft.com/office/drawing/2014/main" id="{40AC8D47-1154-6AC3-6523-21B687EF1967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4587" y="1633123"/>
            <a:ext cx="7131613" cy="2432629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535353"/>
                </a:solidFill>
              </a:defRPr>
            </a:lvl1pPr>
            <a:lvl2pPr>
              <a:buFontTx/>
              <a:buNone/>
              <a:defRPr sz="1200">
                <a:solidFill>
                  <a:srgbClr val="535353"/>
                </a:solidFill>
              </a:defRPr>
            </a:lvl2pPr>
            <a:lvl3pPr>
              <a:buFontTx/>
              <a:buNone/>
              <a:defRPr sz="1200">
                <a:solidFill>
                  <a:srgbClr val="535353"/>
                </a:solidFill>
              </a:defRPr>
            </a:lvl3pPr>
            <a:lvl4pPr>
              <a:buFontTx/>
              <a:buNone/>
              <a:defRPr sz="1200">
                <a:solidFill>
                  <a:srgbClr val="535353"/>
                </a:solidFill>
              </a:defRPr>
            </a:lvl4pPr>
            <a:lvl5pPr>
              <a:buFontTx/>
              <a:buNone/>
              <a:defRPr sz="1200">
                <a:solidFill>
                  <a:srgbClr val="535353"/>
                </a:solidFill>
              </a:defRPr>
            </a:lvl5pPr>
          </a:lstStyle>
          <a:p>
            <a:pPr marL="0" marR="0" lvl="0" indent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>
                <a:solidFill>
                  <a:srgbClr val="535353"/>
                </a:solidFill>
                <a:latin typeface="Source Han Sans CN Regular"/>
                <a:ea typeface="Source Han Sans CN Regular"/>
                <a:cs typeface="Source Han Sans CN Regular"/>
              </a:defRPr>
            </a:pPr>
            <a:r>
              <a:rPr sz="1200" b="0" i="0" u="none" strike="noStrike" cap="none" spc="0" baseline="0">
                <a:ln>
                  <a:noFill/>
                </a:ln>
                <a:solidFill>
                  <a:srgbClr val="535353"/>
                </a:solidFill>
                <a:latin typeface="思源黑体 CN Normal"/>
                <a:ea typeface="思源黑体 CN Normal"/>
                <a:cs typeface="思源黑体 CN Normal"/>
              </a:rPr>
              <a:t>内容文字</a:t>
            </a:r>
            <a:endParaRPr sz="1200" b="0" i="0" u="none" strike="noStrike" kern="1200" cap="none" spc="0" baseline="0">
              <a:ln>
                <a:noFill/>
              </a:ln>
              <a:solidFill>
                <a:srgbClr val="535353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3" name="文本占位符 6">
            <a:extLst>
              <a:ext uri="{FF2B5EF4-FFF2-40B4-BE49-F238E27FC236}">
                <a16:creationId xmlns:a16="http://schemas.microsoft.com/office/drawing/2014/main" id="{22DA0137-13C5-C4D2-8D4F-B7369E8F7DE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51730" y="1012508"/>
            <a:ext cx="4019488" cy="473075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rgbClr val="211A8E"/>
                </a:soli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lvl="0">
              <a:buNone/>
            </a:pPr>
            <a:r>
              <a:t>1.1 二级标题</a:t>
            </a:r>
          </a:p>
        </p:txBody>
      </p:sp>
      <p:sp>
        <p:nvSpPr>
          <p:cNvPr id="14" name="文本占位符 6">
            <a:extLst>
              <a:ext uri="{FF2B5EF4-FFF2-40B4-BE49-F238E27FC236}">
                <a16:creationId xmlns:a16="http://schemas.microsoft.com/office/drawing/2014/main" id="{D5FB7586-FF7F-5D83-4C9F-45E7B31EDC7F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51730" y="391894"/>
            <a:ext cx="4019488" cy="473075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rgbClr val="211A8E"/>
                </a:soli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lvl="0">
              <a:buNone/>
            </a:pPr>
            <a:r>
              <a:t>1 一级标题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>
            <a:extLst>
              <a:ext uri="{FF2B5EF4-FFF2-40B4-BE49-F238E27FC236}">
                <a16:creationId xmlns:a16="http://schemas.microsoft.com/office/drawing/2014/main" id="{75AA8BE7-5B90-E13A-2793-9E2AA7816CF3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51673" y="4464362"/>
            <a:ext cx="3986213" cy="473075"/>
          </a:xfrm>
        </p:spPr>
        <p:txBody>
          <a:bodyPr>
            <a:normAutofit/>
          </a:bodyPr>
          <a:lstStyle>
            <a:lvl1pPr marL="0" indent="0">
              <a:buFont typeface="Wingdings"/>
              <a:buNone/>
              <a:defRPr sz="900" b="0" i="0">
                <a:solidFill>
                  <a:schemeClr val="bg1">
                    <a:lumMod val="65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 lvl="0">
              <a:buNone/>
            </a:pPr>
            <a:r>
              <a:t>参考来源（思源黑体 regular 9）</a:t>
            </a:r>
          </a:p>
        </p:txBody>
      </p:sp>
      <p:sp>
        <p:nvSpPr>
          <p:cNvPr id="2" name="文本占位符 19">
            <a:extLst>
              <a:ext uri="{FF2B5EF4-FFF2-40B4-BE49-F238E27FC236}">
                <a16:creationId xmlns:a16="http://schemas.microsoft.com/office/drawing/2014/main" id="{9E001E9E-701F-6F88-3117-156BED529DF6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4588" y="1633123"/>
            <a:ext cx="4019488" cy="2432629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535353"/>
                </a:solidFill>
              </a:defRPr>
            </a:lvl1pPr>
            <a:lvl2pPr>
              <a:buFontTx/>
              <a:buNone/>
              <a:defRPr sz="1200">
                <a:solidFill>
                  <a:srgbClr val="535353"/>
                </a:solidFill>
              </a:defRPr>
            </a:lvl2pPr>
            <a:lvl3pPr>
              <a:buFontTx/>
              <a:buNone/>
              <a:defRPr sz="1200">
                <a:solidFill>
                  <a:srgbClr val="535353"/>
                </a:solidFill>
              </a:defRPr>
            </a:lvl3pPr>
            <a:lvl4pPr>
              <a:buFontTx/>
              <a:buNone/>
              <a:defRPr sz="1200">
                <a:solidFill>
                  <a:srgbClr val="535353"/>
                </a:solidFill>
              </a:defRPr>
            </a:lvl4pPr>
            <a:lvl5pPr>
              <a:buFontTx/>
              <a:buNone/>
              <a:defRPr sz="1200">
                <a:solidFill>
                  <a:srgbClr val="535353"/>
                </a:solidFill>
              </a:defRPr>
            </a:lvl5pPr>
          </a:lstStyle>
          <a:p>
            <a:pPr marL="0" marR="0" lvl="0" indent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>
                <a:solidFill>
                  <a:srgbClr val="535353"/>
                </a:solidFill>
                <a:latin typeface="Source Han Sans CN Regular"/>
                <a:ea typeface="Source Han Sans CN Regular"/>
                <a:cs typeface="Source Han Sans CN Regular"/>
              </a:defRPr>
            </a:pPr>
            <a:r>
              <a:rPr sz="1200" b="0" i="0" u="none" strike="noStrike" cap="none" spc="0" baseline="0">
                <a:ln>
                  <a:noFill/>
                </a:ln>
                <a:solidFill>
                  <a:srgbClr val="535353"/>
                </a:solidFill>
                <a:latin typeface="思源黑体 CN Normal"/>
                <a:ea typeface="思源黑体 CN Normal"/>
                <a:cs typeface="思源黑体 CN Normal"/>
              </a:rPr>
              <a:t>内容文字</a:t>
            </a:r>
            <a:endParaRPr sz="1200" b="0" i="0" u="none" strike="noStrike" kern="1200" cap="none" spc="0" baseline="0">
              <a:ln>
                <a:noFill/>
              </a:ln>
              <a:solidFill>
                <a:srgbClr val="535353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3" name="文本占位符 6">
            <a:extLst>
              <a:ext uri="{FF2B5EF4-FFF2-40B4-BE49-F238E27FC236}">
                <a16:creationId xmlns:a16="http://schemas.microsoft.com/office/drawing/2014/main" id="{ADA82450-6507-4604-36AF-306D2E1861D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51730" y="1012508"/>
            <a:ext cx="4019488" cy="473075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rgbClr val="211A8E"/>
                </a:soli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lvl="0">
              <a:buNone/>
            </a:pPr>
            <a:r>
              <a:t>1.1 二级标题</a:t>
            </a: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1A75F795-23B1-FC87-A0AF-23520FDA6103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51730" y="391894"/>
            <a:ext cx="4019488" cy="473075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rgbClr val="211A8E"/>
                </a:soli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lvl="0">
              <a:buNone/>
            </a:pPr>
            <a:r>
              <a:t>1 一级标题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D0691C3F-363A-FEC3-E906-E611476B370A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4686301" y="1632959"/>
            <a:ext cx="3893112" cy="2432629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9">
            <a:extLst>
              <a:ext uri="{FF2B5EF4-FFF2-40B4-BE49-F238E27FC236}">
                <a16:creationId xmlns:a16="http://schemas.microsoft.com/office/drawing/2014/main" id="{F5115A80-A4C2-FCE8-AC52-74DA86F75E1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5986" y="4372668"/>
            <a:ext cx="1447390" cy="434495"/>
          </a:xfrm>
        </p:spPr>
        <p:txBody>
          <a:bodyPr anchor="t">
            <a:normAutofit/>
          </a:bodyPr>
          <a:lstStyle>
            <a:lvl1pPr algn="l">
              <a:lnSpc>
                <a:spcPts val="1060"/>
              </a:lnSpc>
              <a:buFontTx/>
              <a:buNone/>
              <a:defRPr sz="1400" b="0" i="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演讲人</a:t>
            </a:r>
          </a:p>
        </p:txBody>
      </p:sp>
      <p:sp>
        <p:nvSpPr>
          <p:cNvPr id="3" name="标题 5">
            <a:extLst>
              <a:ext uri="{FF2B5EF4-FFF2-40B4-BE49-F238E27FC236}">
                <a16:creationId xmlns:a16="http://schemas.microsoft.com/office/drawing/2014/main" id="{F128489B-F455-7DF3-C30A-04DBEC240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86" y="1399348"/>
            <a:ext cx="4184498" cy="685070"/>
          </a:xfrm>
        </p:spPr>
        <p:txBody>
          <a:bodyPr anchor="t">
            <a:noAutofit/>
          </a:bodyPr>
          <a:lstStyle>
            <a:lvl1pPr algn="l">
              <a:buNone/>
              <a:defRPr sz="3600" b="0" i="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</a:lstStyle>
          <a:p>
            <a:r>
              <a:t>感谢观看</a:t>
            </a:r>
          </a:p>
        </p:txBody>
      </p:sp>
      <p:sp>
        <p:nvSpPr>
          <p:cNvPr id="4" name="文本占位符 9">
            <a:extLst>
              <a:ext uri="{FF2B5EF4-FFF2-40B4-BE49-F238E27FC236}">
                <a16:creationId xmlns:a16="http://schemas.microsoft.com/office/drawing/2014/main" id="{85747FC2-BE38-2A0A-79A1-ED1F3C8D3A6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15986" y="2107312"/>
            <a:ext cx="4184498" cy="503583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buFontTx/>
              <a:buNone/>
              <a:defRPr sz="1600" b="0" i="0">
                <a:solidFill>
                  <a:schemeClr val="bg1"/>
                </a:solidFill>
                <a:latin typeface="Source Han Sans CN Medium"/>
                <a:ea typeface="Source Han Sans CN Medium"/>
                <a:cs typeface="Source Han Sans CN Medium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THANKS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75144906-48B0-AF02-BD11-C7B519635CC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963376" y="4372669"/>
            <a:ext cx="1447390" cy="434494"/>
          </a:xfrm>
        </p:spPr>
        <p:txBody>
          <a:bodyPr anchor="t">
            <a:normAutofit/>
          </a:bodyPr>
          <a:lstStyle>
            <a:lvl1pPr algn="l">
              <a:lnSpc>
                <a:spcPts val="1060"/>
              </a:lnSpc>
              <a:buFontTx/>
              <a:buNone/>
              <a:defRPr sz="1400" b="0" i="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日期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3759152-9F83-C765-E5B3-AE89E3A2EE8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15986" y="438532"/>
            <a:ext cx="4184498" cy="38919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400" b="0" i="0" kern="120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marL="171450" lvl="0" indent="-171450" algn="l" defTabSz="685800">
              <a:lnSpc>
                <a:spcPts val="1060"/>
              </a:lnSpc>
              <a:spcBef>
                <a:spcPts val="750"/>
              </a:spcBef>
              <a:buFontTx/>
              <a:buNone/>
            </a:pPr>
            <a:r>
              <a:t>2023年演示文稿模板</a:t>
            </a:r>
          </a:p>
        </p:txBody>
      </p:sp>
      <p:sp>
        <p:nvSpPr>
          <p:cNvPr id="13" name="文本占位符 9">
            <a:extLst>
              <a:ext uri="{FF2B5EF4-FFF2-40B4-BE49-F238E27FC236}">
                <a16:creationId xmlns:a16="http://schemas.microsoft.com/office/drawing/2014/main" id="{7BC868E5-F98B-CFD9-799F-B2870E4BFBC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15986" y="647249"/>
            <a:ext cx="4184498" cy="40625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400" b="0" i="0" kern="1200"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defRPr>
            </a:lvl1pPr>
            <a:lvl2pPr algn="l">
              <a:buNone/>
              <a:defRPr sz="1800">
                <a:solidFill>
                  <a:schemeClr val="bg1"/>
                </a:solidFill>
              </a:defRPr>
            </a:lvl2pPr>
            <a:lvl3pPr algn="l">
              <a:buNone/>
              <a:defRPr sz="1800">
                <a:solidFill>
                  <a:schemeClr val="bg1"/>
                </a:solidFill>
              </a:defRPr>
            </a:lvl3pPr>
            <a:lvl4pPr algn="l">
              <a:buNone/>
              <a:defRPr sz="1800">
                <a:solidFill>
                  <a:schemeClr val="bg1"/>
                </a:solidFill>
              </a:defRPr>
            </a:lvl4pPr>
            <a:lvl5pPr algn="l">
              <a:buNone/>
              <a:defRPr sz="1800">
                <a:solidFill>
                  <a:schemeClr val="bg1"/>
                </a:solidFill>
              </a:defRPr>
            </a:lvl5pPr>
          </a:lstStyle>
          <a:p>
            <a:pPr marL="171450" lvl="0" indent="-171450" algn="l" defTabSz="685800">
              <a:lnSpc>
                <a:spcPts val="1060"/>
              </a:lnSpc>
              <a:spcBef>
                <a:spcPts val="750"/>
              </a:spcBef>
              <a:buFontTx/>
              <a:buNone/>
            </a:pPr>
            <a:r>
              <a:t>2023 Presentation Template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6C8DE-136C-403F-B665-7AB74BC7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DC0D7-CFC3-489F-8949-1364E20EF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078BB-46CA-46F0-8CEC-9607CA19F1F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4995-C28C-4E83-946A-5973D763831D}" type="datetimeFigureOut">
              <a:t>2026/10/19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CAF3-2152-47AB-BF0A-663A290B261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0F772-D9F5-4EE6-AFAE-FABB0FAEE58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1377B-2F1A-4CC4-BFFF-9E9FBDA017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建筑垃圾的运输优化平台&#10;与资源化的再思考">
            <a:extLst>
              <a:ext uri="{FF2B5EF4-FFF2-40B4-BE49-F238E27FC236}">
                <a16:creationId xmlns:a16="http://schemas.microsoft.com/office/drawing/2014/main" id="{1E2216D4-E492-4D63-958C-7A269AA8E486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79057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建筑垃圾的运输优化平台</a:t>
            </a:r>
          </a:p>
          <a:p>
            <a:pPr>
              <a:def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与资源化的再思考</a:t>
            </a:r>
          </a:p>
        </p:txBody>
      </p:sp>
      <p:sp>
        <p:nvSpPr>
          <p:cNvPr id="2" name="源头识别、接收匹配与车辆协同调度">
            <a:extLst>
              <a:ext uri="{FF2B5EF4-FFF2-40B4-BE49-F238E27FC236}">
                <a16:creationId xmlns:a16="http://schemas.microsoft.com/office/drawing/2014/main" id="{529705F3-4071-4C7A-A611-3C2C9213E350}"/>
              </a:ext>
            </a:extLst>
          </p:cNvPr>
          <p:cNvSpPr>
            <a:spLocks noGrp="1"/>
          </p:cNvSpPr>
          <p:nvPr/>
        </p:nvSpPr>
        <p:spPr>
          <a:xfrm>
            <a:off x="571500" y="3019425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源头识别、接收匹配与车辆协同调度</a:t>
            </a:r>
          </a:p>
        </p:txBody>
      </p:sp>
      <p:sp>
        <p:nvSpPr>
          <p:cNvPr id="3" name="项目方案讨论稿">
            <a:extLst>
              <a:ext uri="{FF2B5EF4-FFF2-40B4-BE49-F238E27FC236}">
                <a16:creationId xmlns:a16="http://schemas.microsoft.com/office/drawing/2014/main" id="{764B1327-3AD4-4BF4-91E5-40DDF1307831}"/>
              </a:ext>
            </a:extLst>
          </p:cNvPr>
          <p:cNvSpPr>
            <a:spLocks noGrp="1"/>
          </p:cNvSpPr>
          <p:nvPr/>
        </p:nvSpPr>
        <p:spPr>
          <a:xfrm>
            <a:off x="571500" y="44481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项目方案讨论稿</a:t>
            </a:r>
          </a:p>
        </p:txBody>
      </p:sp>
    </p:spTree>
    <p:extLst>
      <p:ext uri="{BB962C8B-B14F-4D97-AF65-F5344CB8AC3E}">
        <p14:creationId xmlns:p14="http://schemas.microsoft.com/office/powerpoint/2010/main" val="204297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汇报内容">
            <a:extLst>
              <a:ext uri="{FF2B5EF4-FFF2-40B4-BE49-F238E27FC236}">
                <a16:creationId xmlns:a16="http://schemas.microsoft.com/office/drawing/2014/main" id="{790CFB7D-03D0-47B8-BD0A-D71E6A33B037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762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汇报内容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4C452329-01FC-4975-98C5-5B08C2B312D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619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" name="对象与问题">
            <a:extLst>
              <a:ext uri="{FF2B5EF4-FFF2-40B4-BE49-F238E27FC236}">
                <a16:creationId xmlns:a16="http://schemas.microsoft.com/office/drawing/2014/main" id="{6C49B56B-24C1-4467-A8CB-8557A8FB3C04}"/>
              </a:ext>
            </a:extLst>
          </p:cNvPr>
          <p:cNvSpPr>
            <a:spLocks noGrp="1"/>
          </p:cNvSpPr>
          <p:nvPr/>
        </p:nvSpPr>
        <p:spPr>
          <a:xfrm>
            <a:off x="1476375" y="15240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对象与问题</a:t>
            </a:r>
          </a:p>
        </p:txBody>
      </p:sp>
      <p:sp>
        <p:nvSpPr>
          <p:cNvPr id="4" name="五类建筑垃圾、流转损耗与数据口径">
            <a:extLst>
              <a:ext uri="{FF2B5EF4-FFF2-40B4-BE49-F238E27FC236}">
                <a16:creationId xmlns:a16="http://schemas.microsoft.com/office/drawing/2014/main" id="{F9D0D0EF-F774-4EF6-AC22-379512E94094}"/>
              </a:ext>
            </a:extLst>
          </p:cNvPr>
          <p:cNvSpPr>
            <a:spLocks noGrp="1"/>
          </p:cNvSpPr>
          <p:nvPr/>
        </p:nvSpPr>
        <p:spPr>
          <a:xfrm>
            <a:off x="1476375" y="19240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五类建筑垃圾、流转损耗与数据口径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31756C9B-FA3D-4860-9A7E-AD62A9D3DA3C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619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平台与算法">
            <a:extLst>
              <a:ext uri="{FF2B5EF4-FFF2-40B4-BE49-F238E27FC236}">
                <a16:creationId xmlns:a16="http://schemas.microsoft.com/office/drawing/2014/main" id="{07995F6C-58A9-4A0E-BB03-BDBB44B53F23}"/>
              </a:ext>
            </a:extLst>
          </p:cNvPr>
          <p:cNvSpPr>
            <a:spLocks noGrp="1"/>
          </p:cNvSpPr>
          <p:nvPr/>
        </p:nvSpPr>
        <p:spPr>
          <a:xfrm>
            <a:off x="1476375" y="238125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平台与算法</a:t>
            </a:r>
          </a:p>
        </p:txBody>
      </p:sp>
      <p:sp>
        <p:nvSpPr>
          <p:cNvPr id="7" name="联合接收匹配、车辆调度与视觉预检">
            <a:extLst>
              <a:ext uri="{FF2B5EF4-FFF2-40B4-BE49-F238E27FC236}">
                <a16:creationId xmlns:a16="http://schemas.microsoft.com/office/drawing/2014/main" id="{CD8D920B-A084-457C-B76E-1C1C13310D89}"/>
              </a:ext>
            </a:extLst>
          </p:cNvPr>
          <p:cNvSpPr>
            <a:spLocks noGrp="1"/>
          </p:cNvSpPr>
          <p:nvPr/>
        </p:nvSpPr>
        <p:spPr>
          <a:xfrm>
            <a:off x="1476375" y="27813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联合接收匹配、车辆调度与视觉预检</a:t>
            </a:r>
          </a:p>
        </p:txBody>
      </p:sp>
      <p:sp>
        <p:nvSpPr>
          <p:cNvPr id="8" name="03">
            <a:extLst>
              <a:ext uri="{FF2B5EF4-FFF2-40B4-BE49-F238E27FC236}">
                <a16:creationId xmlns:a16="http://schemas.microsoft.com/office/drawing/2014/main" id="{D11A9A92-2D60-4950-A621-5D38F29A87AE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619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9" name="验证与发展">
            <a:extLst>
              <a:ext uri="{FF2B5EF4-FFF2-40B4-BE49-F238E27FC236}">
                <a16:creationId xmlns:a16="http://schemas.microsoft.com/office/drawing/2014/main" id="{A3106FC2-86FF-4364-A76F-B3E7152DEF9C}"/>
              </a:ext>
            </a:extLst>
          </p:cNvPr>
          <p:cNvSpPr>
            <a:spLocks noGrp="1"/>
          </p:cNvSpPr>
          <p:nvPr/>
        </p:nvSpPr>
        <p:spPr>
          <a:xfrm>
            <a:off x="1476375" y="32385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验证与发展</a:t>
            </a:r>
          </a:p>
        </p:txBody>
      </p:sp>
      <p:sp>
        <p:nvSpPr>
          <p:cNvPr id="10" name="数据获取、试点验证与材料利用场景">
            <a:extLst>
              <a:ext uri="{FF2B5EF4-FFF2-40B4-BE49-F238E27FC236}">
                <a16:creationId xmlns:a16="http://schemas.microsoft.com/office/drawing/2014/main" id="{076E9F00-3254-4CA7-9D84-1DAF33D968F6}"/>
              </a:ext>
            </a:extLst>
          </p:cNvPr>
          <p:cNvSpPr>
            <a:spLocks noGrp="1"/>
          </p:cNvSpPr>
          <p:nvPr/>
        </p:nvSpPr>
        <p:spPr>
          <a:xfrm>
            <a:off x="1476375" y="36385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数据获取、试点验证与材料利用场景</a:t>
            </a:r>
          </a:p>
        </p:txBody>
      </p:sp>
    </p:spTree>
    <p:extLst>
      <p:ext uri="{BB962C8B-B14F-4D97-AF65-F5344CB8AC3E}">
        <p14:creationId xmlns:p14="http://schemas.microsoft.com/office/powerpoint/2010/main" val="52966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">
            <a:extLst>
              <a:ext uri="{FF2B5EF4-FFF2-40B4-BE49-F238E27FC236}">
                <a16:creationId xmlns:a16="http://schemas.microsoft.com/office/drawing/2014/main" id="{00B1DE3B-365B-4F2D-AA7E-C17E052ED88C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66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" name="我们面向的对象">
            <a:extLst>
              <a:ext uri="{FF2B5EF4-FFF2-40B4-BE49-F238E27FC236}">
                <a16:creationId xmlns:a16="http://schemas.microsoft.com/office/drawing/2014/main" id="{59D2F79A-70BA-4FAF-AADE-5DDB5728EDFB}"/>
              </a:ext>
            </a:extLst>
          </p:cNvPr>
          <p:cNvSpPr>
            <a:spLocks noGrp="1"/>
          </p:cNvSpPr>
          <p:nvPr/>
        </p:nvSpPr>
        <p:spPr>
          <a:xfrm>
            <a:off x="1685925" y="523875"/>
            <a:ext cx="666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我们面向的对象</a:t>
            </a:r>
          </a:p>
        </p:txBody>
      </p:sp>
      <p:sp>
        <p:nvSpPr>
          <p:cNvPr id="3" name="五类建筑垃圾及首期试点边界">
            <a:extLst>
              <a:ext uri="{FF2B5EF4-FFF2-40B4-BE49-F238E27FC236}">
                <a16:creationId xmlns:a16="http://schemas.microsoft.com/office/drawing/2014/main" id="{63C28410-95C5-492D-99C5-1DE6B43301D0}"/>
              </a:ext>
            </a:extLst>
          </p:cNvPr>
          <p:cNvSpPr>
            <a:spLocks noGrp="1"/>
          </p:cNvSpPr>
          <p:nvPr/>
        </p:nvSpPr>
        <p:spPr>
          <a:xfrm>
            <a:off x="1685925" y="1133475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五类建筑垃圾</a:t>
            </a:r>
            <a:endParaRPr sz="1575" b="0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工程渣土">
            <a:extLst>
              <a:ext uri="{FF2B5EF4-FFF2-40B4-BE49-F238E27FC236}">
                <a16:creationId xmlns:a16="http://schemas.microsoft.com/office/drawing/2014/main" id="{0B35F441-85C7-47CA-8D48-99FE2B4CCE4F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工程渣土</a:t>
            </a:r>
          </a:p>
        </p:txBody>
      </p:sp>
      <p:sp>
        <p:nvSpPr>
          <p:cNvPr id="5" name="基础开挖产生的弃土、砂石等">
            <a:extLst>
              <a:ext uri="{FF2B5EF4-FFF2-40B4-BE49-F238E27FC236}">
                <a16:creationId xmlns:a16="http://schemas.microsoft.com/office/drawing/2014/main" id="{F8872EE3-F21C-460A-92F6-570D5D1240E8}"/>
              </a:ext>
            </a:extLst>
          </p:cNvPr>
          <p:cNvSpPr>
            <a:spLocks noGrp="1"/>
          </p:cNvSpPr>
          <p:nvPr/>
        </p:nvSpPr>
        <p:spPr>
          <a:xfrm>
            <a:off x="2352675" y="1743075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基础开挖产生的弃土、砂石等</a:t>
            </a:r>
          </a:p>
        </p:txBody>
      </p:sp>
      <p:sp>
        <p:nvSpPr>
          <p:cNvPr id="6" name="工程泥浆">
            <a:extLst>
              <a:ext uri="{FF2B5EF4-FFF2-40B4-BE49-F238E27FC236}">
                <a16:creationId xmlns:a16="http://schemas.microsoft.com/office/drawing/2014/main" id="{CD099298-0554-47AA-ADCF-B5B6F61EE657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工程泥浆</a:t>
            </a:r>
          </a:p>
        </p:txBody>
      </p:sp>
      <p:sp>
        <p:nvSpPr>
          <p:cNvPr id="7" name="桩基、盾构等施工产生的泥浆">
            <a:extLst>
              <a:ext uri="{FF2B5EF4-FFF2-40B4-BE49-F238E27FC236}">
                <a16:creationId xmlns:a16="http://schemas.microsoft.com/office/drawing/2014/main" id="{9A9BEAB0-39A1-472A-A9CB-D9A3936C5881}"/>
              </a:ext>
            </a:extLst>
          </p:cNvPr>
          <p:cNvSpPr>
            <a:spLocks noGrp="1"/>
          </p:cNvSpPr>
          <p:nvPr/>
        </p:nvSpPr>
        <p:spPr>
          <a:xfrm>
            <a:off x="2352675" y="2200275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桩基、盾构等施工产生的泥浆</a:t>
            </a:r>
          </a:p>
        </p:txBody>
      </p:sp>
      <p:sp>
        <p:nvSpPr>
          <p:cNvPr id="8" name="工程垃圾">
            <a:extLst>
              <a:ext uri="{FF2B5EF4-FFF2-40B4-BE49-F238E27FC236}">
                <a16:creationId xmlns:a16="http://schemas.microsoft.com/office/drawing/2014/main" id="{380FD1D9-CFBD-40EF-9F98-B361C2C659EC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工程垃圾</a:t>
            </a:r>
          </a:p>
        </p:txBody>
      </p:sp>
      <p:sp>
        <p:nvSpPr>
          <p:cNvPr id="9" name="建设施工过程中产生的弃料">
            <a:extLst>
              <a:ext uri="{FF2B5EF4-FFF2-40B4-BE49-F238E27FC236}">
                <a16:creationId xmlns:a16="http://schemas.microsoft.com/office/drawing/2014/main" id="{C061C773-3E17-4719-A49A-24AD03515789}"/>
              </a:ext>
            </a:extLst>
          </p:cNvPr>
          <p:cNvSpPr>
            <a:spLocks noGrp="1"/>
          </p:cNvSpPr>
          <p:nvPr/>
        </p:nvSpPr>
        <p:spPr>
          <a:xfrm>
            <a:off x="2352675" y="2657475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建设施工过程中产生的弃料</a:t>
            </a:r>
          </a:p>
        </p:txBody>
      </p:sp>
      <p:sp>
        <p:nvSpPr>
          <p:cNvPr id="10" name="拆除垃圾">
            <a:extLst>
              <a:ext uri="{FF2B5EF4-FFF2-40B4-BE49-F238E27FC236}">
                <a16:creationId xmlns:a16="http://schemas.microsoft.com/office/drawing/2014/main" id="{EE14DD37-91FF-4F39-A53B-563371B6AEE2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拆除垃圾</a:t>
            </a:r>
          </a:p>
        </p:txBody>
      </p:sp>
      <p:sp>
        <p:nvSpPr>
          <p:cNvPr id="11" name="拆除建筑物、构筑物产生的弃料">
            <a:extLst>
              <a:ext uri="{FF2B5EF4-FFF2-40B4-BE49-F238E27FC236}">
                <a16:creationId xmlns:a16="http://schemas.microsoft.com/office/drawing/2014/main" id="{E9AB3AB9-F61E-4700-A3B4-0BE51D8E5AC0}"/>
              </a:ext>
            </a:extLst>
          </p:cNvPr>
          <p:cNvSpPr>
            <a:spLocks noGrp="1"/>
          </p:cNvSpPr>
          <p:nvPr/>
        </p:nvSpPr>
        <p:spPr>
          <a:xfrm>
            <a:off x="2352675" y="3114675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拆除建筑物、构筑物产生的弃料</a:t>
            </a:r>
          </a:p>
        </p:txBody>
      </p:sp>
      <p:sp>
        <p:nvSpPr>
          <p:cNvPr id="12" name="装修垃圾">
            <a:extLst>
              <a:ext uri="{FF2B5EF4-FFF2-40B4-BE49-F238E27FC236}">
                <a16:creationId xmlns:a16="http://schemas.microsoft.com/office/drawing/2014/main" id="{2F659E11-6476-4B49-9909-20C464A99D6F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装修垃圾</a:t>
            </a:r>
          </a:p>
        </p:txBody>
      </p:sp>
      <p:sp>
        <p:nvSpPr>
          <p:cNvPr id="13" name="装饰装修过程中产生的废弃物">
            <a:extLst>
              <a:ext uri="{FF2B5EF4-FFF2-40B4-BE49-F238E27FC236}">
                <a16:creationId xmlns:a16="http://schemas.microsoft.com/office/drawing/2014/main" id="{BA21329D-BEB7-4DD2-85B2-F8924A468972}"/>
              </a:ext>
            </a:extLst>
          </p:cNvPr>
          <p:cNvSpPr>
            <a:spLocks noGrp="1"/>
          </p:cNvSpPr>
          <p:nvPr/>
        </p:nvSpPr>
        <p:spPr>
          <a:xfrm>
            <a:off x="2352675" y="3571875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装饰装修过程中产生的废弃物</a:t>
            </a:r>
          </a:p>
        </p:txBody>
      </p:sp>
      <p:sp>
        <p:nvSpPr>
          <p:cNvPr id="14" name="首期建议：同一区域、成分相对稳定的拆除垃">
            <a:extLst>
              <a:ext uri="{FF2B5EF4-FFF2-40B4-BE49-F238E27FC236}">
                <a16:creationId xmlns:a16="http://schemas.microsoft.com/office/drawing/2014/main" id="{4F38696A-DA9A-4EA8-852C-2B2BDF99BBF1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endParaRPr sz="1500" b="1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332402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为什么要提出新的解决方案？">
            <a:extLst>
              <a:ext uri="{FF2B5EF4-FFF2-40B4-BE49-F238E27FC236}">
                <a16:creationId xmlns:a16="http://schemas.microsoft.com/office/drawing/2014/main" id="{AD824B79-E026-404B-8690-753F7A692387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为什么要提出新的解决方案？</a:t>
            </a:r>
          </a:p>
        </p:txBody>
      </p:sp>
      <p:sp>
        <p:nvSpPr>
          <p:cNvPr id="2" name="北京案例：处理规模大，利用方式需要分口径">
            <a:extLst>
              <a:ext uri="{FF2B5EF4-FFF2-40B4-BE49-F238E27FC236}">
                <a16:creationId xmlns:a16="http://schemas.microsoft.com/office/drawing/2014/main" id="{76788B34-46F3-4311-BB45-A36D681AF9BB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CN" sz="1425" b="0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目前存在资源化利用率低</a:t>
            </a:r>
            <a:r>
              <a:rPr lang="zh-CN" altLang="en-US" dirty="0"/>
              <a:t>， 运输与信息缺少协同的问题</a:t>
            </a:r>
            <a:endParaRPr sz="1425" b="0" dirty="0">
              <a:solidFill>
                <a:srgbClr val="241A91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439B89-6368-4FCB-993A-91A2E3BAD7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318712"/>
              </p:ext>
            </p:extLst>
          </p:nvPr>
        </p:nvGraphicFramePr>
        <p:xfrm>
          <a:off x="571500" y="1504950"/>
          <a:ext cx="7962900" cy="1571625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57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2025年</a:t>
                      </a:r>
                      <a:r>
                        <a:rPr lang="en-CN" sz="157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全国</a:t>
                      </a:r>
                      <a:r>
                        <a:rPr sz="1575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建筑垃圾去向</a:t>
                      </a:r>
                      <a:endParaRPr sz="1575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  <a:r>
                        <a:rPr sz="157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（</a:t>
                      </a:r>
                      <a:r>
                        <a:rPr lang="en-CN" sz="157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</a:t>
                      </a:r>
                      <a:r>
                        <a:rPr sz="1575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吨</a:t>
                      </a:r>
                      <a:r>
                        <a:rPr sz="157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）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占产生量</a:t>
                      </a:r>
                      <a:endParaRPr sz="1575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zh-CN" altLang="en-US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资源化利用</a:t>
                      </a:r>
                      <a:endParaRPr sz="1575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8.6</a:t>
                      </a:r>
                      <a:endParaRPr sz="1575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35.7%</a:t>
                      </a:r>
                      <a:endParaRPr sz="1575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CN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未利用</a:t>
                      </a:r>
                      <a:r>
                        <a:rPr lang="en-US" altLang="zh-CN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/</a:t>
                      </a:r>
                      <a:r>
                        <a:rPr lang="zh-CN" altLang="en-US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平衡利用</a:t>
                      </a:r>
                      <a:endParaRPr sz="1575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15.5</a:t>
                      </a:r>
                      <a:endParaRPr sz="1575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75" b="0" dirty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64.3%</a:t>
                      </a:r>
                      <a:endParaRPr sz="1575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总产生量 12,676.25 万吨（含工">
            <a:extLst>
              <a:ext uri="{FF2B5EF4-FFF2-40B4-BE49-F238E27FC236}">
                <a16:creationId xmlns:a16="http://schemas.microsoft.com/office/drawing/2014/main" id="{2AADC468-E253-4219-8F98-E70DACD21DD1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790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dirty="0" err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总产生量</a:t>
            </a:r>
            <a:r>
              <a:rPr sz="1725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lang="en-US" altLang="zh-CN" sz="1725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21.4</a:t>
            </a:r>
            <a:r>
              <a:rPr lang="zh-CN" altLang="en-US" sz="1725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lang="zh-CN" altLang="en-US" dirty="0"/>
              <a:t>亿</a:t>
            </a:r>
            <a:r>
              <a:rPr sz="1725" b="1" dirty="0" err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吨（含工程渣土</a:t>
            </a:r>
            <a:r>
              <a:rPr sz="1725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5699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为什么要提出新的解决方案？">
            <a:extLst>
              <a:ext uri="{FF2B5EF4-FFF2-40B4-BE49-F238E27FC236}">
                <a16:creationId xmlns:a16="http://schemas.microsoft.com/office/drawing/2014/main" id="{DA911BFC-852E-4764-810D-9067F2E26AA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为什么要提出新的解决方案？</a:t>
            </a:r>
          </a:p>
        </p:txBody>
      </p:sp>
      <p:sp>
        <p:nvSpPr>
          <p:cNvPr id="2" name="待验证的业务问题：运输与接收信息缺少协同">
            <a:extLst>
              <a:ext uri="{FF2B5EF4-FFF2-40B4-BE49-F238E27FC236}">
                <a16:creationId xmlns:a16="http://schemas.microsoft.com/office/drawing/2014/main" id="{1503709E-559D-4568-AE24-F92DDEBDA766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dirty="0"/>
              <a:t>目前存在资源化利用率低， 运输与信息缺少协同的问题</a:t>
            </a:r>
          </a:p>
        </p:txBody>
      </p:sp>
      <p:sp>
        <p:nvSpPr>
          <p:cNvPr id="3" name="空驶与绕行">
            <a:extLst>
              <a:ext uri="{FF2B5EF4-FFF2-40B4-BE49-F238E27FC236}">
                <a16:creationId xmlns:a16="http://schemas.microsoft.com/office/drawing/2014/main" id="{976BED2D-7DD9-45D3-833F-EC8B9B77C460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38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dirty="0" err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空驶与绕行</a:t>
            </a:r>
            <a:endParaRPr sz="1500" b="1" dirty="0">
              <a:solidFill>
                <a:srgbClr val="241A9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卸货后缺少可接续任务，车辆与订单匹配不足">
            <a:extLst>
              <a:ext uri="{FF2B5EF4-FFF2-40B4-BE49-F238E27FC236}">
                <a16:creationId xmlns:a16="http://schemas.microsoft.com/office/drawing/2014/main" id="{AB3D517A-1184-4958-B8C9-456347925D48}"/>
              </a:ext>
            </a:extLst>
          </p:cNvPr>
          <p:cNvSpPr>
            <a:spLocks noGrp="1"/>
          </p:cNvSpPr>
          <p:nvPr/>
        </p:nvSpPr>
        <p:spPr>
          <a:xfrm>
            <a:off x="2095499" y="1524000"/>
            <a:ext cx="680084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卸货后缺少可接续任务</a:t>
            </a:r>
            <a:r>
              <a:rPr lang="zh-CN" altLang="en-US" dirty="0"/>
              <a:t>，</a:t>
            </a:r>
            <a:r>
              <a:rPr lang="zh-CN" altLang="en-US" sz="1500" b="0" dirty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基准空驶率可达到</a:t>
            </a:r>
            <a:r>
              <a:rPr lang="en-US" altLang="zh-CN" sz="1500" b="0" dirty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40%</a:t>
            </a:r>
            <a:r>
              <a:rPr lang="zh-CN" altLang="en-US" sz="1500" b="0" dirty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甚至更高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等待与积压">
            <a:extLst>
              <a:ext uri="{FF2B5EF4-FFF2-40B4-BE49-F238E27FC236}">
                <a16:creationId xmlns:a16="http://schemas.microsoft.com/office/drawing/2014/main" id="{921D6156-D30C-421F-B2EB-FBA0BF57C1E9}"/>
              </a:ext>
            </a:extLst>
          </p:cNvPr>
          <p:cNvSpPr>
            <a:spLocks noGrp="1"/>
          </p:cNvSpPr>
          <p:nvPr/>
        </p:nvSpPr>
        <p:spPr>
          <a:xfrm>
            <a:off x="571500" y="2124075"/>
            <a:ext cx="138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等待与积压</a:t>
            </a:r>
          </a:p>
        </p:txBody>
      </p:sp>
      <p:sp>
        <p:nvSpPr>
          <p:cNvPr id="6" name="出料节奏、过磅排队和处理厂时段不一致">
            <a:extLst>
              <a:ext uri="{FF2B5EF4-FFF2-40B4-BE49-F238E27FC236}">
                <a16:creationId xmlns:a16="http://schemas.microsoft.com/office/drawing/2014/main" id="{ADA1332D-A967-465A-894C-FCF0C0ED95F7}"/>
              </a:ext>
            </a:extLst>
          </p:cNvPr>
          <p:cNvSpPr>
            <a:spLocks noGrp="1"/>
          </p:cNvSpPr>
          <p:nvPr/>
        </p:nvSpPr>
        <p:spPr>
          <a:xfrm>
            <a:off x="2095500" y="2124075"/>
            <a:ext cx="643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出料节奏、过磅排队和处理厂时段不一致</a:t>
            </a:r>
            <a:r>
              <a:rPr lang="zh-CN" altLang="en-US" sz="1500" b="0" dirty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，导致高峰排队降低效率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拒收与返运">
            <a:extLst>
              <a:ext uri="{FF2B5EF4-FFF2-40B4-BE49-F238E27FC236}">
                <a16:creationId xmlns:a16="http://schemas.microsoft.com/office/drawing/2014/main" id="{DB347057-51BA-4A62-BFA8-5EC3F768C8A4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38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拒收与返运</a:t>
            </a:r>
          </a:p>
        </p:txBody>
      </p:sp>
      <p:sp>
        <p:nvSpPr>
          <p:cNvPr id="8" name="材质、杂质或接收条件在到场后才确认">
            <a:extLst>
              <a:ext uri="{FF2B5EF4-FFF2-40B4-BE49-F238E27FC236}">
                <a16:creationId xmlns:a16="http://schemas.microsoft.com/office/drawing/2014/main" id="{8620769E-0454-4148-8A10-BD3F5BE6C29A}"/>
              </a:ext>
            </a:extLst>
          </p:cNvPr>
          <p:cNvSpPr>
            <a:spLocks noGrp="1"/>
          </p:cNvSpPr>
          <p:nvPr/>
        </p:nvSpPr>
        <p:spPr>
          <a:xfrm>
            <a:off x="2095500" y="2724150"/>
            <a:ext cx="643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材质、杂质或接收条件在到场后才确认</a:t>
            </a:r>
            <a:r>
              <a:rPr lang="zh-CN" altLang="en-US" sz="1500" b="0" dirty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，导致无效运输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质量与销路">
            <a:extLst>
              <a:ext uri="{FF2B5EF4-FFF2-40B4-BE49-F238E27FC236}">
                <a16:creationId xmlns:a16="http://schemas.microsoft.com/office/drawing/2014/main" id="{CFC13841-BB27-4A20-9852-87AED68652C5}"/>
              </a:ext>
            </a:extLst>
          </p:cNvPr>
          <p:cNvSpPr>
            <a:spLocks noGrp="1"/>
          </p:cNvSpPr>
          <p:nvPr/>
        </p:nvSpPr>
        <p:spPr>
          <a:xfrm>
            <a:off x="571500" y="3324225"/>
            <a:ext cx="138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质量与销路</a:t>
            </a:r>
          </a:p>
        </p:txBody>
      </p:sp>
      <p:sp>
        <p:nvSpPr>
          <p:cNvPr id="10" name="材料混杂可能限制分选和后续产品用途">
            <a:extLst>
              <a:ext uri="{FF2B5EF4-FFF2-40B4-BE49-F238E27FC236}">
                <a16:creationId xmlns:a16="http://schemas.microsoft.com/office/drawing/2014/main" id="{DB8D5240-B880-4357-AAD6-50046C432696}"/>
              </a:ext>
            </a:extLst>
          </p:cNvPr>
          <p:cNvSpPr>
            <a:spLocks noGrp="1"/>
          </p:cNvSpPr>
          <p:nvPr/>
        </p:nvSpPr>
        <p:spPr>
          <a:xfrm>
            <a:off x="2095500" y="3324225"/>
            <a:ext cx="643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材料混杂可能限制分选和后续产品用途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以上为调研假设，需用订单、轨迹和拒收记录">
            <a:extLst>
              <a:ext uri="{FF2B5EF4-FFF2-40B4-BE49-F238E27FC236}">
                <a16:creationId xmlns:a16="http://schemas.microsoft.com/office/drawing/2014/main" id="{0ACD1E11-BE2B-4153-B896-6C08E1E7FC9F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29681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">
            <a:extLst>
              <a:ext uri="{FF2B5EF4-FFF2-40B4-BE49-F238E27FC236}">
                <a16:creationId xmlns:a16="http://schemas.microsoft.com/office/drawing/2014/main" id="{2E7A24CF-C15A-4DD4-93AD-0D39F2E8948F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66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" name="我们的想法">
            <a:extLst>
              <a:ext uri="{FF2B5EF4-FFF2-40B4-BE49-F238E27FC236}">
                <a16:creationId xmlns:a16="http://schemas.microsoft.com/office/drawing/2014/main" id="{ECAA75D3-FC7F-4A8D-8FA2-AEF68D0C9D79}"/>
              </a:ext>
            </a:extLst>
          </p:cNvPr>
          <p:cNvSpPr>
            <a:spLocks noGrp="1"/>
          </p:cNvSpPr>
          <p:nvPr/>
        </p:nvSpPr>
        <p:spPr>
          <a:xfrm>
            <a:off x="1685925" y="523875"/>
            <a:ext cx="666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我们的想法</a:t>
            </a:r>
          </a:p>
        </p:txBody>
      </p:sp>
      <p:sp>
        <p:nvSpPr>
          <p:cNvPr id="3" name="面向建筑垃圾的视觉识别与协同调度平台">
            <a:extLst>
              <a:ext uri="{FF2B5EF4-FFF2-40B4-BE49-F238E27FC236}">
                <a16:creationId xmlns:a16="http://schemas.microsoft.com/office/drawing/2014/main" id="{31C9B0A2-DA19-4CB6-A4AE-A1A8E701F0D3}"/>
              </a:ext>
            </a:extLst>
          </p:cNvPr>
          <p:cNvSpPr>
            <a:spLocks noGrp="1"/>
          </p:cNvSpPr>
          <p:nvPr/>
        </p:nvSpPr>
        <p:spPr>
          <a:xfrm>
            <a:off x="600075" y="1990725"/>
            <a:ext cx="790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面向建筑垃圾的视觉识别与协同调度平台</a:t>
            </a:r>
            <a:endParaRPr sz="2625" b="1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发运前预检材料，提前确认接收条件&#10;联合选">
            <a:extLst>
              <a:ext uri="{FF2B5EF4-FFF2-40B4-BE49-F238E27FC236}">
                <a16:creationId xmlns:a16="http://schemas.microsoft.com/office/drawing/2014/main" id="{95020017-1799-4145-80D4-2F416382C23D}"/>
              </a:ext>
            </a:extLst>
          </p:cNvPr>
          <p:cNvSpPr>
            <a:spLocks noGrp="1"/>
          </p:cNvSpPr>
          <p:nvPr/>
        </p:nvSpPr>
        <p:spPr>
          <a:xfrm>
            <a:off x="628650" y="3038475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发运前预检材料，提前确认接收条件</a:t>
            </a:r>
          </a:p>
          <a:p>
            <a: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联合选择处理厂、车辆与运输时段</a:t>
            </a:r>
          </a:p>
        </p:txBody>
      </p:sp>
    </p:spTree>
    <p:extLst>
      <p:ext uri="{BB962C8B-B14F-4D97-AF65-F5344CB8AC3E}">
        <p14:creationId xmlns:p14="http://schemas.microsoft.com/office/powerpoint/2010/main" val="1679366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. 平台调度">
            <a:extLst>
              <a:ext uri="{FF2B5EF4-FFF2-40B4-BE49-F238E27FC236}">
                <a16:creationId xmlns:a16="http://schemas.microsoft.com/office/drawing/2014/main" id="{B8F5E9FB-D4F9-48D7-8B93-9CB9B1D3CBE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A. 平台调度</a:t>
            </a:r>
          </a:p>
        </p:txBody>
      </p:sp>
      <p:sp>
        <p:nvSpPr>
          <p:cNvPr id="2" name="联合车辆、产生点与处理点，降低完成订单的">
            <a:extLst>
              <a:ext uri="{FF2B5EF4-FFF2-40B4-BE49-F238E27FC236}">
                <a16:creationId xmlns:a16="http://schemas.microsoft.com/office/drawing/2014/main" id="{C09FDF75-144C-454B-BCFB-0E57EA0AF5CB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联合车辆、产生点与处理点，降低完成订单的总成本</a:t>
            </a:r>
          </a:p>
        </p:txBody>
      </p:sp>
      <p:sp>
        <p:nvSpPr>
          <p:cNvPr id="3" name="输入：可执行的运输需求">
            <a:extLst>
              <a:ext uri="{FF2B5EF4-FFF2-40B4-BE49-F238E27FC236}">
                <a16:creationId xmlns:a16="http://schemas.microsoft.com/office/drawing/2014/main" id="{13889953-AEB7-4872-91C4-8765BB64FC9A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CN" dirty="0"/>
              <a:t>单位</a:t>
            </a:r>
            <a:r>
              <a:rPr sz="1800" b="1" dirty="0" err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输入：可执行的运输需求</a:t>
            </a:r>
            <a:endParaRPr sz="1800" b="1" dirty="0">
              <a:solidFill>
                <a:srgbClr val="241A9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产生点：位置、类别、数量、出料时间&#10;&#10;处">
            <a:extLst>
              <a:ext uri="{FF2B5EF4-FFF2-40B4-BE49-F238E27FC236}">
                <a16:creationId xmlns:a16="http://schemas.microsoft.com/office/drawing/2014/main" id="{EC5FF837-30B7-4057-8601-A231AED05A8F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产生点：位置、类别、数量、出料时间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处理点：接收类别、余量、营业时段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车辆：位置、载重、车厢与可用时间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输出：车辆与接收方案">
            <a:extLst>
              <a:ext uri="{FF2B5EF4-FFF2-40B4-BE49-F238E27FC236}">
                <a16:creationId xmlns:a16="http://schemas.microsoft.com/office/drawing/2014/main" id="{3E96C7BE-46BE-438F-80F9-A0BB0812BEDE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CN" sz="1800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平台</a:t>
            </a:r>
            <a:r>
              <a:rPr sz="1800" b="1" dirty="0" err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输出：车辆与接收方案</a:t>
            </a:r>
            <a:endParaRPr sz="1800" b="1" dirty="0">
              <a:solidFill>
                <a:srgbClr val="241A9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推荐处理点与到场时段&#10;&#10;分配车辆、装卸顺">
            <a:extLst>
              <a:ext uri="{FF2B5EF4-FFF2-40B4-BE49-F238E27FC236}">
                <a16:creationId xmlns:a16="http://schemas.microsoft.com/office/drawing/2014/main" id="{131C8192-994E-4A48-8244-9264528F5E5B}"/>
              </a:ext>
            </a:extLst>
          </p:cNvPr>
          <p:cNvSpPr>
            <a:spLocks noGrp="1"/>
          </p:cNvSpPr>
          <p:nvPr/>
        </p:nvSpPr>
        <p:spPr>
          <a:xfrm>
            <a:off x="4838700" y="2047875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推荐处理点与到场时段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分配车辆、装卸顺序与接续任务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拥堵、停机或拒收后</a:t>
            </a:r>
            <a:r>
              <a:rPr lang="en-CN" sz="1500" b="0" dirty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的</a:t>
            </a:r>
            <a:r>
              <a:rPr sz="1500" b="0" dirty="0" err="1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重新安排</a:t>
            </a: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设计原则：先检查接收与运输条件，再比较路">
            <a:extLst>
              <a:ext uri="{FF2B5EF4-FFF2-40B4-BE49-F238E27FC236}">
                <a16:creationId xmlns:a16="http://schemas.microsoft.com/office/drawing/2014/main" id="{395D0A93-AA76-447E-B103-B299D17D8EA1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 dirty="0" err="1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设计原则：先检查接收与运输条件，再比较路线成本</a:t>
            </a:r>
            <a:r>
              <a:rPr sz="825" b="0" dirty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9807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8EDC-C8F0-A04B-0ADE-0FCB70FC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. 平台调度">
            <a:extLst>
              <a:ext uri="{FF2B5EF4-FFF2-40B4-BE49-F238E27FC236}">
                <a16:creationId xmlns:a16="http://schemas.microsoft.com/office/drawing/2014/main" id="{79B31A47-27B8-B102-0CCC-3622CCA0E553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A. 平台调度</a:t>
            </a:r>
          </a:p>
        </p:txBody>
      </p:sp>
      <p:sp>
        <p:nvSpPr>
          <p:cNvPr id="2" name="联合车辆、产生点与处理点，降低完成订单的">
            <a:extLst>
              <a:ext uri="{FF2B5EF4-FFF2-40B4-BE49-F238E27FC236}">
                <a16:creationId xmlns:a16="http://schemas.microsoft.com/office/drawing/2014/main" id="{20820718-CEED-638C-314F-689895CB0291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联合车辆、产生点与处理点，降低完成订单的总成本</a:t>
            </a:r>
          </a:p>
        </p:txBody>
      </p:sp>
      <p:sp>
        <p:nvSpPr>
          <p:cNvPr id="3" name="输入：可执行的运输需求">
            <a:extLst>
              <a:ext uri="{FF2B5EF4-FFF2-40B4-BE49-F238E27FC236}">
                <a16:creationId xmlns:a16="http://schemas.microsoft.com/office/drawing/2014/main" id="{564895D9-967B-366D-3BD2-65FCA8B8C662}"/>
              </a:ext>
            </a:extLst>
          </p:cNvPr>
          <p:cNvSpPr>
            <a:spLocks noGrp="1"/>
          </p:cNvSpPr>
          <p:nvPr/>
        </p:nvSpPr>
        <p:spPr>
          <a:xfrm>
            <a:off x="571500" y="2162174"/>
            <a:ext cx="4208318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CN" sz="1800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可以根据需要</a:t>
            </a:r>
            <a:r>
              <a:rPr lang="zh-CN" altLang="en-US" dirty="0"/>
              <a:t>，</a:t>
            </a:r>
            <a:r>
              <a:rPr lang="en-CN" sz="1800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通过牺牲阶段运力</a:t>
            </a:r>
          </a:p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CN" sz="1800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换取更高的总体运输效率与总体更低成本</a:t>
            </a:r>
            <a:endParaRPr sz="1800" b="1" dirty="0">
              <a:solidFill>
                <a:srgbClr val="241A9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产生点：位置、类别、数量、出料时间&#10;&#10;处">
            <a:extLst>
              <a:ext uri="{FF2B5EF4-FFF2-40B4-BE49-F238E27FC236}">
                <a16:creationId xmlns:a16="http://schemas.microsoft.com/office/drawing/2014/main" id="{36134781-1B4B-A58E-1164-58190831ADB3}"/>
              </a:ext>
            </a:extLst>
          </p:cNvPr>
          <p:cNvSpPr>
            <a:spLocks noGrp="1"/>
          </p:cNvSpPr>
          <p:nvPr/>
        </p:nvSpPr>
        <p:spPr>
          <a:xfrm>
            <a:off x="552450" y="2495550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endParaRPr sz="1500" b="0" dirty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设计原则：先检查接收与运输条件，再比较路">
            <a:extLst>
              <a:ext uri="{FF2B5EF4-FFF2-40B4-BE49-F238E27FC236}">
                <a16:creationId xmlns:a16="http://schemas.microsoft.com/office/drawing/2014/main" id="{B80B0591-D5FC-CC56-A61C-8F9D775ED10B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 dirty="0" err="1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设计原则：先检查接收与运输条件，再比较路线成本</a:t>
            </a:r>
            <a:r>
              <a:rPr sz="825" b="0" dirty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87236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案例：首批晚到，批次运输成本更低">
            <a:extLst>
              <a:ext uri="{FF2B5EF4-FFF2-40B4-BE49-F238E27FC236}">
                <a16:creationId xmlns:a16="http://schemas.microsoft.com/office/drawing/2014/main" id="{F8C6AB1B-8C83-4B9A-A835-6442A6FB461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dirty="0" err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案例：首批晚到，批次运输成本更低</a:t>
            </a:r>
            <a:r>
              <a:rPr lang="zh-CN" altLang="en-US" sz="2400" b="1" dirty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（虚构场景）</a:t>
            </a:r>
            <a:endParaRPr sz="2400" b="1" dirty="0">
              <a:solidFill>
                <a:srgbClr val="241A9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假设：A/B/C各4吨同类来料，12吨车">
            <a:extLst>
              <a:ext uri="{FF2B5EF4-FFF2-40B4-BE49-F238E27FC236}">
                <a16:creationId xmlns:a16="http://schemas.microsoft.com/office/drawing/2014/main" id="{7622C2BD-1662-494A-83E3-CC704C8F426E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假设：A/B/C各4吨同类来料，12吨车辆，处理厂D兼作发车点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2D2819-C6BC-4822-A98F-8F51081CD012}"/>
              </a:ext>
            </a:extLst>
          </p:cNvPr>
          <p:cNvGraphicFramePr/>
          <p:nvPr/>
        </p:nvGraphicFramePr>
        <p:xfrm>
          <a:off x="571500" y="1457325"/>
          <a:ext cx="7962900" cy="238125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比较项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分别直送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多点集运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运输路线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D-A-D等，共3趟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D-A-B-C-D，共1趟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批次总里程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120 km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 km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简化运输成本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900元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350元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A点来料到厂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08:50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09:30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首批晚40分钟到厂，全批次少行驶70公里">
            <a:extLst>
              <a:ext uri="{FF2B5EF4-FFF2-40B4-BE49-F238E27FC236}">
                <a16:creationId xmlns:a16="http://schemas.microsoft.com/office/drawing/2014/main" id="{537BE606-CB18-4BDA-823E-2E96642D7CEF}"/>
              </a:ext>
            </a:extLst>
          </p:cNvPr>
          <p:cNvSpPr>
            <a:spLocks noGrp="1"/>
          </p:cNvSpPr>
          <p:nvPr/>
        </p:nvSpPr>
        <p:spPr>
          <a:xfrm>
            <a:off x="571500" y="3962400"/>
            <a:ext cx="796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首批晚40分钟到厂，全批次少行驶70公里</a:t>
            </a:r>
          </a:p>
        </p:txBody>
      </p:sp>
      <p:sp>
        <p:nvSpPr>
          <p:cNvPr id="5" name="纯示意，非实测。简化成本＝100元/趟＋">
            <a:extLst>
              <a:ext uri="{FF2B5EF4-FFF2-40B4-BE49-F238E27FC236}">
                <a16:creationId xmlns:a16="http://schemas.microsoft.com/office/drawing/2014/main" id="{EE260555-7062-4D93-AA8F-8EA12FB53FC0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310698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. 视觉集成">
            <a:extLst>
              <a:ext uri="{FF2B5EF4-FFF2-40B4-BE49-F238E27FC236}">
                <a16:creationId xmlns:a16="http://schemas.microsoft.com/office/drawing/2014/main" id="{31401A9E-02F8-4A69-AC16-C34701B0388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B. 视觉集成</a:t>
            </a:r>
          </a:p>
        </p:txBody>
      </p:sp>
      <p:sp>
        <p:nvSpPr>
          <p:cNvPr id="2" name="发运前识别可见材质与混杂风险，辅助接收匹">
            <a:extLst>
              <a:ext uri="{FF2B5EF4-FFF2-40B4-BE49-F238E27FC236}">
                <a16:creationId xmlns:a16="http://schemas.microsoft.com/office/drawing/2014/main" id="{6E69F2EC-84E8-4533-BD61-105DA0E400EA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发运前识别可见材质与混杂风险，辅助接收匹配</a:t>
            </a:r>
          </a:p>
        </p:txBody>
      </p:sp>
      <p:sp>
        <p:nvSpPr>
          <p:cNvPr id="3" name="源头拍摄与预检">
            <a:extLst>
              <a:ext uri="{FF2B5EF4-FFF2-40B4-BE49-F238E27FC236}">
                <a16:creationId xmlns:a16="http://schemas.microsoft.com/office/drawing/2014/main" id="{36234D71-84D0-4087-AC30-DA785773043B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源头拍摄与预检</a:t>
            </a:r>
          </a:p>
        </p:txBody>
      </p:sp>
      <p:sp>
        <p:nvSpPr>
          <p:cNvPr id="4" name="按固定角度拍摄料堆或车厢&#10;&#10;识别混凝土、">
            <a:extLst>
              <a:ext uri="{FF2B5EF4-FFF2-40B4-BE49-F238E27FC236}">
                <a16:creationId xmlns:a16="http://schemas.microsoft.com/office/drawing/2014/main" id="{44581568-9064-4524-9746-0750E7288302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按固定角度拍摄料堆或车厢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识别混凝土、砖瓦、木材等可见类别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输出类别、置信度与疑似混杂提示</a:t>
            </a:r>
          </a:p>
        </p:txBody>
      </p:sp>
      <p:sp>
        <p:nvSpPr>
          <p:cNvPr id="5" name="接收确认与反馈">
            <a:extLst>
              <a:ext uri="{FF2B5EF4-FFF2-40B4-BE49-F238E27FC236}">
                <a16:creationId xmlns:a16="http://schemas.microsoft.com/office/drawing/2014/main" id="{D07031C1-6380-4819-A0F2-75AA7F273179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接收确认与反馈</a:t>
            </a:r>
          </a:p>
        </p:txBody>
      </p:sp>
      <p:sp>
        <p:nvSpPr>
          <p:cNvPr id="6" name="与处理厂接收目录进行匹配&#10;&#10;低置信度或异">
            <a:extLst>
              <a:ext uri="{FF2B5EF4-FFF2-40B4-BE49-F238E27FC236}">
                <a16:creationId xmlns:a16="http://schemas.microsoft.com/office/drawing/2014/main" id="{6DB55EE4-8E40-47C1-A74C-7C817AF91D9C}"/>
              </a:ext>
            </a:extLst>
          </p:cNvPr>
          <p:cNvSpPr>
            <a:spLocks noGrp="1"/>
          </p:cNvSpPr>
          <p:nvPr/>
        </p:nvSpPr>
        <p:spPr>
          <a:xfrm>
            <a:off x="4838700" y="2047875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与处理厂接收目录进行匹配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低置信度或异常订单交人工复核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到场称重、验收与拒收原因回传</a:t>
            </a:r>
          </a:p>
        </p:txBody>
      </p:sp>
      <p:sp>
        <p:nvSpPr>
          <p:cNvPr id="7" name="图像辅助预检。内部成分、污染物与材料质量">
            <a:extLst>
              <a:ext uri="{FF2B5EF4-FFF2-40B4-BE49-F238E27FC236}">
                <a16:creationId xmlns:a16="http://schemas.microsoft.com/office/drawing/2014/main" id="{599D50F2-DEAD-4DEB-9DC5-F77232F0C270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 dirty="0" err="1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图像辅助预检。内部成分、污染物与材料质量仍需现场检验</a:t>
            </a:r>
            <a:r>
              <a:rPr sz="825" b="0" dirty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94051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调度策略：短时响应与批次效率的权衡">
            <a:extLst>
              <a:ext uri="{FF2B5EF4-FFF2-40B4-BE49-F238E27FC236}">
                <a16:creationId xmlns:a16="http://schemas.microsoft.com/office/drawing/2014/main" id="{0B3AE553-1C8F-4A2F-8C55-3A501A82C113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调度策略：短时响应与批次效率的权衡</a:t>
            </a:r>
          </a:p>
        </p:txBody>
      </p:sp>
      <p:sp>
        <p:nvSpPr>
          <p:cNvPr id="2" name="在交付期限内，选择立即直送或多点集运">
            <a:extLst>
              <a:ext uri="{FF2B5EF4-FFF2-40B4-BE49-F238E27FC236}">
                <a16:creationId xmlns:a16="http://schemas.microsoft.com/office/drawing/2014/main" id="{4A73960B-EE0B-48A8-A817-06E511301EC0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在交付期限内，选择立即直送或多点集运</a:t>
            </a:r>
          </a:p>
        </p:txBody>
      </p:sp>
      <p:sp>
        <p:nvSpPr>
          <p:cNvPr id="3" name="多点送一点">
            <a:extLst>
              <a:ext uri="{FF2B5EF4-FFF2-40B4-BE49-F238E27FC236}">
                <a16:creationId xmlns:a16="http://schemas.microsoft.com/office/drawing/2014/main" id="{60D17E9C-5FE1-4E57-9D01-3A7E7402C034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多点送一点</a:t>
            </a:r>
          </a:p>
        </p:txBody>
      </p:sp>
      <p:sp>
        <p:nvSpPr>
          <p:cNvPr id="4" name="相邻产生点的兼容来料，合并送往同一场站">
            <a:extLst>
              <a:ext uri="{FF2B5EF4-FFF2-40B4-BE49-F238E27FC236}">
                <a16:creationId xmlns:a16="http://schemas.microsoft.com/office/drawing/2014/main" id="{69F80364-0521-4F4E-94C6-57BE890AC342}"/>
              </a:ext>
            </a:extLst>
          </p:cNvPr>
          <p:cNvSpPr>
            <a:spLocks noGrp="1"/>
          </p:cNvSpPr>
          <p:nvPr/>
        </p:nvSpPr>
        <p:spPr>
          <a:xfrm>
            <a:off x="2286000" y="1524000"/>
            <a:ext cx="6248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相邻产生点的兼容来料，合并送往同一场站</a:t>
            </a:r>
          </a:p>
        </p:txBody>
      </p:sp>
      <p:sp>
        <p:nvSpPr>
          <p:cNvPr id="5" name="一点送多点">
            <a:extLst>
              <a:ext uri="{FF2B5EF4-FFF2-40B4-BE49-F238E27FC236}">
                <a16:creationId xmlns:a16="http://schemas.microsoft.com/office/drawing/2014/main" id="{8D704172-F33C-44DC-AADC-BE27695B145E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一点送多点</a:t>
            </a:r>
          </a:p>
        </p:txBody>
      </p:sp>
      <p:sp>
        <p:nvSpPr>
          <p:cNvPr id="6" name="按目的地和货物适配条件，组织分批或沿途配">
            <a:extLst>
              <a:ext uri="{FF2B5EF4-FFF2-40B4-BE49-F238E27FC236}">
                <a16:creationId xmlns:a16="http://schemas.microsoft.com/office/drawing/2014/main" id="{D649338F-B6F8-445E-A3C9-1341F00EECA7}"/>
              </a:ext>
            </a:extLst>
          </p:cNvPr>
          <p:cNvSpPr>
            <a:spLocks noGrp="1"/>
          </p:cNvSpPr>
          <p:nvPr/>
        </p:nvSpPr>
        <p:spPr>
          <a:xfrm>
            <a:off x="2286000" y="2190750"/>
            <a:ext cx="6248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按目的地和货物适配条件，组织分批或沿途配送</a:t>
            </a:r>
          </a:p>
        </p:txBody>
      </p:sp>
      <p:sp>
        <p:nvSpPr>
          <p:cNvPr id="7" name="算法决策">
            <a:extLst>
              <a:ext uri="{FF2B5EF4-FFF2-40B4-BE49-F238E27FC236}">
                <a16:creationId xmlns:a16="http://schemas.microsoft.com/office/drawing/2014/main" id="{40210B50-9E69-4906-8969-E6AFA589EA12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算法决策</a:t>
            </a:r>
          </a:p>
        </p:txBody>
      </p:sp>
      <p:sp>
        <p:nvSpPr>
          <p:cNvPr id="8" name="联合安排发运时机、组合订单与车辆路线">
            <a:extLst>
              <a:ext uri="{FF2B5EF4-FFF2-40B4-BE49-F238E27FC236}">
                <a16:creationId xmlns:a16="http://schemas.microsoft.com/office/drawing/2014/main" id="{C83A2F14-DF93-460B-8FCB-EE0C60DE0CDE}"/>
              </a:ext>
            </a:extLst>
          </p:cNvPr>
          <p:cNvSpPr>
            <a:spLocks noGrp="1"/>
          </p:cNvSpPr>
          <p:nvPr/>
        </p:nvSpPr>
        <p:spPr>
          <a:xfrm>
            <a:off x="2286000" y="2857500"/>
            <a:ext cx="6248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联合安排发运时机、组合订单与车辆路线</a:t>
            </a:r>
          </a:p>
        </p:txBody>
      </p:sp>
      <p:sp>
        <p:nvSpPr>
          <p:cNvPr id="9" name="合并条件：运输节约大于新增等待、绕行与操">
            <a:extLst>
              <a:ext uri="{FF2B5EF4-FFF2-40B4-BE49-F238E27FC236}">
                <a16:creationId xmlns:a16="http://schemas.microsoft.com/office/drawing/2014/main" id="{A56F4879-0934-4A7E-8E6A-2EE3B77356A8}"/>
              </a:ext>
            </a:extLst>
          </p:cNvPr>
          <p:cNvSpPr>
            <a:spLocks noGrp="1"/>
          </p:cNvSpPr>
          <p:nvPr/>
        </p:nvSpPr>
        <p:spPr>
          <a:xfrm>
            <a:off x="571500" y="3724275"/>
            <a:ext cx="796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合并条件：运输节约大于新增等待、绕行与操作成本</a:t>
            </a:r>
          </a:p>
        </p:txBody>
      </p:sp>
      <p:sp>
        <p:nvSpPr>
          <p:cNvPr id="10" name="满足载重、容积、材质兼容、可卸货顺序与交">
            <a:extLst>
              <a:ext uri="{FF2B5EF4-FFF2-40B4-BE49-F238E27FC236}">
                <a16:creationId xmlns:a16="http://schemas.microsoft.com/office/drawing/2014/main" id="{79347466-17EB-4DC5-A9C7-FBB0EFAFE2E3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rPr>
              <a:t>满足载重、容积、材质兼容、可卸货顺序与交付期限。紧急订单仍可直送。</a:t>
            </a:r>
          </a:p>
        </p:txBody>
      </p:sp>
    </p:spTree>
    <p:extLst>
      <p:ext uri="{BB962C8B-B14F-4D97-AF65-F5344CB8AC3E}">
        <p14:creationId xmlns:p14="http://schemas.microsoft.com/office/powerpoint/2010/main" val="471984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调度算法简介：约束下的车辆路径优化">
            <a:extLst>
              <a:ext uri="{FF2B5EF4-FFF2-40B4-BE49-F238E27FC236}">
                <a16:creationId xmlns:a16="http://schemas.microsoft.com/office/drawing/2014/main" id="{0A1F01A4-0682-4155-B821-7B1D8021998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调度算法简介：约束下的车辆路径优化</a:t>
            </a:r>
          </a:p>
        </p:txBody>
      </p:sp>
      <p:sp>
        <p:nvSpPr>
          <p:cNvPr id="2" name="候选模型：带容量、时间窗口与接收条件的多">
            <a:extLst>
              <a:ext uri="{FF2B5EF4-FFF2-40B4-BE49-F238E27FC236}">
                <a16:creationId xmlns:a16="http://schemas.microsoft.com/office/drawing/2014/main" id="{ADDFB0C3-14E2-46C0-A689-B2621CCA1B8D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候选模型：带容量、时间窗口与接收条件的多趟运输调度</a:t>
            </a:r>
          </a:p>
        </p:txBody>
      </p:sp>
      <p:sp>
        <p:nvSpPr>
          <p:cNvPr id="3" name="目标：最小化完成全部可行订单的综合成本">
            <a:extLst>
              <a:ext uri="{FF2B5EF4-FFF2-40B4-BE49-F238E27FC236}">
                <a16:creationId xmlns:a16="http://schemas.microsoft.com/office/drawing/2014/main" id="{7BB80020-078C-4976-8C55-9459FF0E5328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796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目标：最小化完成全部可行订单的综合成本</a:t>
            </a:r>
          </a:p>
        </p:txBody>
      </p:sp>
      <p:sp>
        <p:nvSpPr>
          <p:cNvPr id="4" name="综合成本 = 行驶成本 + 等待成本 +">
            <a:extLst>
              <a:ext uri="{FF2B5EF4-FFF2-40B4-BE49-F238E27FC236}">
                <a16:creationId xmlns:a16="http://schemas.microsoft.com/office/drawing/2014/main" id="{7101A237-EDFA-4756-B2F5-818FA3565F9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96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综合成本 = 行驶成本 + 等待成本 + 处置费用 + 违约惩罚</a:t>
            </a:r>
          </a:p>
        </p:txBody>
      </p:sp>
      <p:sp>
        <p:nvSpPr>
          <p:cNvPr id="5" name="硬约束">
            <a:extLst>
              <a:ext uri="{FF2B5EF4-FFF2-40B4-BE49-F238E27FC236}">
                <a16:creationId xmlns:a16="http://schemas.microsoft.com/office/drawing/2014/main" id="{A8D7D5B7-FD46-4F2E-BB4D-C5CCB61983DA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114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硬约束</a:t>
            </a:r>
          </a:p>
        </p:txBody>
      </p:sp>
      <p:sp>
        <p:nvSpPr>
          <p:cNvPr id="6" name="载重与容积、车型适配、接收类别、场站容量">
            <a:extLst>
              <a:ext uri="{FF2B5EF4-FFF2-40B4-BE49-F238E27FC236}">
                <a16:creationId xmlns:a16="http://schemas.microsoft.com/office/drawing/2014/main" id="{13B3A7CE-9F25-44D3-A5BE-DD7F25E31DB9}"/>
              </a:ext>
            </a:extLst>
          </p:cNvPr>
          <p:cNvSpPr>
            <a:spLocks noGrp="1"/>
          </p:cNvSpPr>
          <p:nvPr/>
        </p:nvSpPr>
        <p:spPr>
          <a:xfrm>
            <a:off x="1828800" y="2714625"/>
            <a:ext cx="6705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载重与容积、车型适配、接收类别、场站容量</a:t>
            </a:r>
          </a:p>
        </p:txBody>
      </p:sp>
      <p:sp>
        <p:nvSpPr>
          <p:cNvPr id="7" name="时间约束">
            <a:extLst>
              <a:ext uri="{FF2B5EF4-FFF2-40B4-BE49-F238E27FC236}">
                <a16:creationId xmlns:a16="http://schemas.microsoft.com/office/drawing/2014/main" id="{C45A4071-DE46-458B-A85E-602F3D923775}"/>
              </a:ext>
            </a:extLst>
          </p:cNvPr>
          <p:cNvSpPr>
            <a:spLocks noGrp="1"/>
          </p:cNvSpPr>
          <p:nvPr/>
        </p:nvSpPr>
        <p:spPr>
          <a:xfrm>
            <a:off x="571500" y="3190875"/>
            <a:ext cx="1114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时间约束</a:t>
            </a:r>
          </a:p>
        </p:txBody>
      </p:sp>
      <p:sp>
        <p:nvSpPr>
          <p:cNvPr id="8" name="出料时段、场站营业时间、装卸服务时间">
            <a:extLst>
              <a:ext uri="{FF2B5EF4-FFF2-40B4-BE49-F238E27FC236}">
                <a16:creationId xmlns:a16="http://schemas.microsoft.com/office/drawing/2014/main" id="{7BC46D7A-75DC-4910-A266-54F8A78D577E}"/>
              </a:ext>
            </a:extLst>
          </p:cNvPr>
          <p:cNvSpPr>
            <a:spLocks noGrp="1"/>
          </p:cNvSpPr>
          <p:nvPr/>
        </p:nvSpPr>
        <p:spPr>
          <a:xfrm>
            <a:off x="1828800" y="3190875"/>
            <a:ext cx="6705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出料时段、场站营业时间、装卸服务时间</a:t>
            </a:r>
          </a:p>
        </p:txBody>
      </p:sp>
      <p:sp>
        <p:nvSpPr>
          <p:cNvPr id="9" name="决策变量">
            <a:extLst>
              <a:ext uri="{FF2B5EF4-FFF2-40B4-BE49-F238E27FC236}">
                <a16:creationId xmlns:a16="http://schemas.microsoft.com/office/drawing/2014/main" id="{7A2AD30C-B2BD-43F6-BD02-EAFDCE1800EA}"/>
              </a:ext>
            </a:extLst>
          </p:cNvPr>
          <p:cNvSpPr>
            <a:spLocks noGrp="1"/>
          </p:cNvSpPr>
          <p:nvPr/>
        </p:nvSpPr>
        <p:spPr>
          <a:xfrm>
            <a:off x="571500" y="3667125"/>
            <a:ext cx="1114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决策变量</a:t>
            </a:r>
          </a:p>
        </p:txBody>
      </p:sp>
      <p:sp>
        <p:nvSpPr>
          <p:cNvPr id="10" name="每笔订单交给哪辆车、送到哪里、何时执行">
            <a:extLst>
              <a:ext uri="{FF2B5EF4-FFF2-40B4-BE49-F238E27FC236}">
                <a16:creationId xmlns:a16="http://schemas.microsoft.com/office/drawing/2014/main" id="{7B587D33-6C9D-4629-8722-AB5ADF35B808}"/>
              </a:ext>
            </a:extLst>
          </p:cNvPr>
          <p:cNvSpPr>
            <a:spLocks noGrp="1"/>
          </p:cNvSpPr>
          <p:nvPr/>
        </p:nvSpPr>
        <p:spPr>
          <a:xfrm>
            <a:off x="1828800" y="3667125"/>
            <a:ext cx="6705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每笔订单交给哪辆车、送到哪里、何时执行</a:t>
            </a:r>
          </a:p>
        </p:txBody>
      </p:sp>
      <p:sp>
        <p:nvSpPr>
          <p:cNvPr id="11" name="候选技术：OR-Tools 路径规划。具">
            <a:extLst>
              <a:ext uri="{FF2B5EF4-FFF2-40B4-BE49-F238E27FC236}">
                <a16:creationId xmlns:a16="http://schemas.microsoft.com/office/drawing/2014/main" id="{7E95F9DB-74AB-4ACD-BFA5-843FD20EEBC3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369407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">
            <a:extLst>
              <a:ext uri="{FF2B5EF4-FFF2-40B4-BE49-F238E27FC236}">
                <a16:creationId xmlns:a16="http://schemas.microsoft.com/office/drawing/2014/main" id="{D82183E2-078D-4539-A104-089601B5D917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66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" name="发展方向与当前问题">
            <a:extLst>
              <a:ext uri="{FF2B5EF4-FFF2-40B4-BE49-F238E27FC236}">
                <a16:creationId xmlns:a16="http://schemas.microsoft.com/office/drawing/2014/main" id="{562837D5-9F36-471C-9199-174336C2A0E3}"/>
              </a:ext>
            </a:extLst>
          </p:cNvPr>
          <p:cNvSpPr>
            <a:spLocks noGrp="1"/>
          </p:cNvSpPr>
          <p:nvPr/>
        </p:nvSpPr>
        <p:spPr>
          <a:xfrm>
            <a:off x="1685925" y="523875"/>
            <a:ext cx="695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发展方向与当前问题</a:t>
            </a:r>
          </a:p>
        </p:txBody>
      </p:sp>
      <p:sp>
        <p:nvSpPr>
          <p:cNvPr id="3" name="更细的材料信息&#10;更可靠的业务数据&#10;从小范">
            <a:extLst>
              <a:ext uri="{FF2B5EF4-FFF2-40B4-BE49-F238E27FC236}">
                <a16:creationId xmlns:a16="http://schemas.microsoft.com/office/drawing/2014/main" id="{6417472F-5C1F-431F-99BB-12B22FCFEFF9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7620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更细的材料信息</a:t>
            </a:r>
          </a:p>
          <a:p>
            <a: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更可靠的业务数据</a:t>
            </a:r>
          </a:p>
          <a:p>
            <a:pPr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从小范围试点开始验证</a:t>
            </a:r>
          </a:p>
        </p:txBody>
      </p:sp>
    </p:spTree>
    <p:extLst>
      <p:ext uri="{BB962C8B-B14F-4D97-AF65-F5344CB8AC3E}">
        <p14:creationId xmlns:p14="http://schemas.microsoft.com/office/powerpoint/2010/main" val="503592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. 更精细的垃圾分类">
            <a:extLst>
              <a:ext uri="{FF2B5EF4-FFF2-40B4-BE49-F238E27FC236}">
                <a16:creationId xmlns:a16="http://schemas.microsoft.com/office/drawing/2014/main" id="{D06F140B-2EE1-44E5-9561-16521C94AA8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A. 更精细的垃圾分类</a:t>
            </a:r>
          </a:p>
        </p:txBody>
      </p:sp>
      <p:sp>
        <p:nvSpPr>
          <p:cNvPr id="2" name="在五类来源分类基础上，补充面向利用的材质">
            <a:extLst>
              <a:ext uri="{FF2B5EF4-FFF2-40B4-BE49-F238E27FC236}">
                <a16:creationId xmlns:a16="http://schemas.microsoft.com/office/drawing/2014/main" id="{D4F9C4F0-400B-4231-A139-7ED4C619914F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在五类来源分类基础上，补充面向利用的材质标签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25D80F-6F12-4B62-9DA6-3A4C595D25BB}"/>
              </a:ext>
            </a:extLst>
          </p:cNvPr>
          <p:cNvGraphicFramePr/>
          <p:nvPr/>
        </p:nvGraphicFramePr>
        <p:xfrm>
          <a:off x="571500" y="1504950"/>
          <a:ext cx="7962900" cy="256222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4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材质标签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潜在利用方向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匹配前需确认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混凝土、砖瓦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再生骨料、道路材料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杂质、粒径与产品标准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金属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分选后进入金属回收链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材质、夹杂与接收条件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木材、塑料等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分类回收或专门处理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污染情况与稳定接收方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土与泥浆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适宜的土方平衡或处理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含水率、成分与现场条件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利用方向仅作匹配线索。最终用途以材料检测">
            <a:extLst>
              <a:ext uri="{FF2B5EF4-FFF2-40B4-BE49-F238E27FC236}">
                <a16:creationId xmlns:a16="http://schemas.microsoft.com/office/drawing/2014/main" id="{4DA273A3-5934-4317-83B2-8327CF413FD7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96882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. 当前数据不足">
            <a:extLst>
              <a:ext uri="{FF2B5EF4-FFF2-40B4-BE49-F238E27FC236}">
                <a16:creationId xmlns:a16="http://schemas.microsoft.com/office/drawing/2014/main" id="{06D0AE4E-D7B3-4C93-A7D1-516199897E0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B. 当前数据不足</a:t>
            </a:r>
          </a:p>
        </p:txBody>
      </p:sp>
      <p:sp>
        <p:nvSpPr>
          <p:cNvPr id="2" name="公开信息可建立底图，动态业务数据需要合作">
            <a:extLst>
              <a:ext uri="{FF2B5EF4-FFF2-40B4-BE49-F238E27FC236}">
                <a16:creationId xmlns:a16="http://schemas.microsoft.com/office/drawing/2014/main" id="{2B7F2CC2-D213-4305-99FE-AFC3C56045B9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公开信息可建立底图，动态业务数据需要合作获取</a:t>
            </a:r>
          </a:p>
        </p:txBody>
      </p:sp>
      <p:sp>
        <p:nvSpPr>
          <p:cNvPr id="3" name="可公开整理">
            <a:extLst>
              <a:ext uri="{FF2B5EF4-FFF2-40B4-BE49-F238E27FC236}">
                <a16:creationId xmlns:a16="http://schemas.microsoft.com/office/drawing/2014/main" id="{56FD26CC-704D-4F3C-8340-967E29F1F4E0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428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可公开整理</a:t>
            </a:r>
          </a:p>
        </p:txBody>
      </p:sp>
      <p:sp>
        <p:nvSpPr>
          <p:cNvPr id="4" name="处理设施位置、公开接收信息、道路与时间限">
            <a:extLst>
              <a:ext uri="{FF2B5EF4-FFF2-40B4-BE49-F238E27FC236}">
                <a16:creationId xmlns:a16="http://schemas.microsoft.com/office/drawing/2014/main" id="{17C11B02-C2A2-4C9F-9CDA-A1B093E6121F}"/>
              </a:ext>
            </a:extLst>
          </p:cNvPr>
          <p:cNvSpPr>
            <a:spLocks noGrp="1"/>
          </p:cNvSpPr>
          <p:nvPr/>
        </p:nvSpPr>
        <p:spPr>
          <a:xfrm>
            <a:off x="2143125" y="1524000"/>
            <a:ext cx="63912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处理设施位置、公开接收信息、道路与时间限制</a:t>
            </a:r>
          </a:p>
        </p:txBody>
      </p:sp>
      <p:sp>
        <p:nvSpPr>
          <p:cNvPr id="5" name="需协商授权">
            <a:extLst>
              <a:ext uri="{FF2B5EF4-FFF2-40B4-BE49-F238E27FC236}">
                <a16:creationId xmlns:a16="http://schemas.microsoft.com/office/drawing/2014/main" id="{34970BB0-88EB-43E6-B716-31633B0E7615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1428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需协商授权</a:t>
            </a:r>
          </a:p>
        </p:txBody>
      </p:sp>
      <p:sp>
        <p:nvSpPr>
          <p:cNvPr id="6" name="车辆轨迹、订单、排队时长、动态容量与收费">
            <a:extLst>
              <a:ext uri="{FF2B5EF4-FFF2-40B4-BE49-F238E27FC236}">
                <a16:creationId xmlns:a16="http://schemas.microsoft.com/office/drawing/2014/main" id="{9D5CA09E-C603-4820-8CF5-9F4C9636AF23}"/>
              </a:ext>
            </a:extLst>
          </p:cNvPr>
          <p:cNvSpPr>
            <a:spLocks noGrp="1"/>
          </p:cNvSpPr>
          <p:nvPr/>
        </p:nvSpPr>
        <p:spPr>
          <a:xfrm>
            <a:off x="2143125" y="2133600"/>
            <a:ext cx="63912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车辆轨迹、订单、排队时长、动态容量与收费</a:t>
            </a:r>
          </a:p>
        </p:txBody>
      </p:sp>
      <p:sp>
        <p:nvSpPr>
          <p:cNvPr id="7" name="需现场采集">
            <a:extLst>
              <a:ext uri="{FF2B5EF4-FFF2-40B4-BE49-F238E27FC236}">
                <a16:creationId xmlns:a16="http://schemas.microsoft.com/office/drawing/2014/main" id="{B5F79C92-2AE6-4454-95F6-CFA56A6D93DC}"/>
              </a:ext>
            </a:extLst>
          </p:cNvPr>
          <p:cNvSpPr>
            <a:spLocks noGrp="1"/>
          </p:cNvSpPr>
          <p:nvPr/>
        </p:nvSpPr>
        <p:spPr>
          <a:xfrm>
            <a:off x="571500" y="2743200"/>
            <a:ext cx="1428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需现场采集</a:t>
            </a:r>
          </a:p>
        </p:txBody>
      </p:sp>
      <p:sp>
        <p:nvSpPr>
          <p:cNvPr id="8" name="图像标注、重量偏差、拒收原因和验收结果">
            <a:extLst>
              <a:ext uri="{FF2B5EF4-FFF2-40B4-BE49-F238E27FC236}">
                <a16:creationId xmlns:a16="http://schemas.microsoft.com/office/drawing/2014/main" id="{48DFC901-158D-4589-B831-8025E461DD05}"/>
              </a:ext>
            </a:extLst>
          </p:cNvPr>
          <p:cNvSpPr>
            <a:spLocks noGrp="1"/>
          </p:cNvSpPr>
          <p:nvPr/>
        </p:nvSpPr>
        <p:spPr>
          <a:xfrm>
            <a:off x="2143125" y="2743200"/>
            <a:ext cx="63912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图像标注、重量偏差、拒收原因和验收结果</a:t>
            </a:r>
          </a:p>
        </p:txBody>
      </p:sp>
      <p:sp>
        <p:nvSpPr>
          <p:cNvPr id="9" name="暂时缺失时">
            <a:extLst>
              <a:ext uri="{FF2B5EF4-FFF2-40B4-BE49-F238E27FC236}">
                <a16:creationId xmlns:a16="http://schemas.microsoft.com/office/drawing/2014/main" id="{D7A96ED1-7A01-47A0-8D08-60A69C37060F}"/>
              </a:ext>
            </a:extLst>
          </p:cNvPr>
          <p:cNvSpPr>
            <a:spLocks noGrp="1"/>
          </p:cNvSpPr>
          <p:nvPr/>
        </p:nvSpPr>
        <p:spPr>
          <a:xfrm>
            <a:off x="571500" y="3352800"/>
            <a:ext cx="1428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暂时缺失时</a:t>
            </a:r>
          </a:p>
        </p:txBody>
      </p:sp>
      <p:sp>
        <p:nvSpPr>
          <p:cNvPr id="10" name="用模拟数据检验机制，再用真实订单校准参数">
            <a:extLst>
              <a:ext uri="{FF2B5EF4-FFF2-40B4-BE49-F238E27FC236}">
                <a16:creationId xmlns:a16="http://schemas.microsoft.com/office/drawing/2014/main" id="{1620B128-CBFF-4E98-A294-06901845AA70}"/>
              </a:ext>
            </a:extLst>
          </p:cNvPr>
          <p:cNvSpPr>
            <a:spLocks noGrp="1"/>
          </p:cNvSpPr>
          <p:nvPr/>
        </p:nvSpPr>
        <p:spPr>
          <a:xfrm>
            <a:off x="2143125" y="3352800"/>
            <a:ext cx="63912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用模拟数据检验机制，再用真实订单校准参数</a:t>
            </a:r>
          </a:p>
        </p:txBody>
      </p:sp>
      <p:sp>
        <p:nvSpPr>
          <p:cNvPr id="11" name="最低数据单元：一笔订单、一辆车、一座场站">
            <a:extLst>
              <a:ext uri="{FF2B5EF4-FFF2-40B4-BE49-F238E27FC236}">
                <a16:creationId xmlns:a16="http://schemas.microsoft.com/office/drawing/2014/main" id="{3FAF29D3-0181-4593-82A9-C830BA87800F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442379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试点验证：先证明可执行，再比较收益">
            <a:extLst>
              <a:ext uri="{FF2B5EF4-FFF2-40B4-BE49-F238E27FC236}">
                <a16:creationId xmlns:a16="http://schemas.microsoft.com/office/drawing/2014/main" id="{855DBAEF-DB13-4E93-8E90-D4CC9ECE9A6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试点验证：先证明可执行，再比较收益</a:t>
            </a:r>
          </a:p>
        </p:txBody>
      </p:sp>
      <p:sp>
        <p:nvSpPr>
          <p:cNvPr id="2" name="建议同时验证调度模块与视觉模块的增量作用">
            <a:extLst>
              <a:ext uri="{FF2B5EF4-FFF2-40B4-BE49-F238E27FC236}">
                <a16:creationId xmlns:a16="http://schemas.microsoft.com/office/drawing/2014/main" id="{D2DFB2C2-FA12-478A-8110-43A3587DB0F1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建议同时验证调度模块与视觉模块的增量作用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78B90C-B9D9-4ABC-9849-0A30827717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025185"/>
              </p:ext>
            </p:extLst>
          </p:nvPr>
        </p:nvGraphicFramePr>
        <p:xfrm>
          <a:off x="571500" y="1485900"/>
          <a:ext cx="7962900" cy="257175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核心指标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比较方式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>
                      <a:solidFill>
                        <a:srgbClr val="DDDCEC"/>
                      </a:solidFill>
                      <a:prstDash val="soli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241A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运输效率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空驶里程占比、吨公里成本</a:t>
                      </a:r>
                    </a:p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订单准时完成率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开展现场对照</a:t>
                      </a:r>
                      <a:endParaRPr sz="1350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接收匹配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拒收率、人工复核率</a:t>
                      </a:r>
                    </a:p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关键杂质漏检率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人工预检与视觉预检</a:t>
                      </a:r>
                    </a:p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使用同一验收标准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5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整体履约</a:t>
                      </a:r>
                    </a:p>
                  </a:txBody>
                  <a:tcPr anchor="ctr">
                    <a:lnL w="5715">
                      <a:solidFill>
                        <a:srgbClr val="DDDCEC"/>
                      </a:solidFill>
                      <a:prstDash val="soli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每单成本、等待时长</a:t>
                      </a:r>
                    </a:p>
                    <a:p>
                      <a:r>
                        <a:rPr sz="1350" b="0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吨运输量对应排放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仅调度与联合方案</a:t>
                      </a:r>
                      <a:endParaRPr sz="1350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  <a:p>
                      <a:r>
                        <a:rPr sz="1350" b="0" dirty="0" err="1">
                          <a:solidFill>
                            <a:srgbClr val="2225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区分车辆和业务规模</a:t>
                      </a:r>
                      <a:endParaRPr sz="1350" b="0" dirty="0">
                        <a:solidFill>
                          <a:srgbClr val="222538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DDCEC"/>
                      </a:solidFill>
                      <a:prstDash val="solid"/>
                    </a:lnR>
                    <a:lnT w="5715" cap="flat" cmpd="sng" algn="ctr">
                      <a:solidFill>
                        <a:srgbClr val="DD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D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尚无实测结果。报告样本量、基线和变化区间">
            <a:extLst>
              <a:ext uri="{FF2B5EF4-FFF2-40B4-BE49-F238E27FC236}">
                <a16:creationId xmlns:a16="http://schemas.microsoft.com/office/drawing/2014/main" id="{43154627-5744-4B2A-80AE-FD8C21099F0E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21026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合作方式与持续运营">
            <a:extLst>
              <a:ext uri="{FF2B5EF4-FFF2-40B4-BE49-F238E27FC236}">
                <a16:creationId xmlns:a16="http://schemas.microsoft.com/office/drawing/2014/main" id="{F27C0FF2-4D7C-4F5B-8D36-325290D27BB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04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合作方式与持续运营</a:t>
            </a:r>
          </a:p>
        </p:txBody>
      </p:sp>
      <p:sp>
        <p:nvSpPr>
          <p:cNvPr id="2" name="服务价值需要由真实履约节约和持续使用验证">
            <a:extLst>
              <a:ext uri="{FF2B5EF4-FFF2-40B4-BE49-F238E27FC236}">
                <a16:creationId xmlns:a16="http://schemas.microsoft.com/office/drawing/2014/main" id="{FE641C69-41CD-4267-A519-C00C9D811C21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7962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服务价值需要由真实履约节约和持续使用验证</a:t>
            </a:r>
          </a:p>
        </p:txBody>
      </p:sp>
      <p:sp>
        <p:nvSpPr>
          <p:cNvPr id="3" name="合作方与收益机制">
            <a:extLst>
              <a:ext uri="{FF2B5EF4-FFF2-40B4-BE49-F238E27FC236}">
                <a16:creationId xmlns:a16="http://schemas.microsoft.com/office/drawing/2014/main" id="{43B99B8A-1C25-4F6B-A0B6-5FA178A9BD98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合作方与收益机制</a:t>
            </a:r>
          </a:p>
        </p:txBody>
      </p:sp>
      <p:sp>
        <p:nvSpPr>
          <p:cNvPr id="4" name="工地：提前确认去向与清运安排&#10;&#10;车队：减">
            <a:extLst>
              <a:ext uri="{FF2B5EF4-FFF2-40B4-BE49-F238E27FC236}">
                <a16:creationId xmlns:a16="http://schemas.microsoft.com/office/drawing/2014/main" id="{B9E6A5C5-8C84-45A0-8AB0-063A298B9765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工地：提前确认去向与清运安排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车队：减少无效空驶和等待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场站：提前掌握来料类型与时间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三方共同维护验收与结算规则</a:t>
            </a:r>
          </a:p>
        </p:txBody>
      </p:sp>
      <p:sp>
        <p:nvSpPr>
          <p:cNvPr id="5" name="可验证的服务模式">
            <a:extLst>
              <a:ext uri="{FF2B5EF4-FFF2-40B4-BE49-F238E27FC236}">
                <a16:creationId xmlns:a16="http://schemas.microsoft.com/office/drawing/2014/main" id="{CED071B4-1116-4F2C-8B63-F150174698C0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1A91"/>
                </a:solidFill>
                <a:latin typeface="Noto Sans CJK SC"/>
                <a:ea typeface="Noto Sans CJK SC"/>
                <a:cs typeface="Noto Sans CJK SC"/>
              </a:rPr>
              <a:t>可验证的服务模式</a:t>
            </a:r>
          </a:p>
        </p:txBody>
      </p:sp>
      <p:sp>
        <p:nvSpPr>
          <p:cNvPr id="6" name="先以合作试点验证每单服务价值&#10;&#10;再测试调">
            <a:extLst>
              <a:ext uri="{FF2B5EF4-FFF2-40B4-BE49-F238E27FC236}">
                <a16:creationId xmlns:a16="http://schemas.microsoft.com/office/drawing/2014/main" id="{1F616469-2533-4719-A8CA-29A68481727B}"/>
              </a:ext>
            </a:extLst>
          </p:cNvPr>
          <p:cNvSpPr>
            <a:spLocks noGrp="1"/>
          </p:cNvSpPr>
          <p:nvPr/>
        </p:nvSpPr>
        <p:spPr>
          <a:xfrm>
            <a:off x="4838700" y="2047875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先以合作试点验证每单服务价值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再测试调度服务费或企业订阅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核算节约能否覆盖采集与运维成本</a:t>
            </a:r>
          </a:p>
          <a:p>
            <a:endParaRPr sz="1500" b="0">
              <a:solidFill>
                <a:srgbClr val="222538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def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22538"/>
                </a:solidFill>
                <a:latin typeface="Noto Sans CJK SC"/>
                <a:ea typeface="Noto Sans CJK SC"/>
                <a:cs typeface="Noto Sans CJK SC"/>
              </a:rPr>
              <a:t>约定数据使用、异常处置与责任</a:t>
            </a:r>
          </a:p>
        </p:txBody>
      </p:sp>
      <p:sp>
        <p:nvSpPr>
          <p:cNvPr id="7" name="收费方式和支付意愿尚待访谈验证，不预设收">
            <a:extLst>
              <a:ext uri="{FF2B5EF4-FFF2-40B4-BE49-F238E27FC236}">
                <a16:creationId xmlns:a16="http://schemas.microsoft.com/office/drawing/2014/main" id="{D226F9F3-AB9B-48D3-9641-47E9C3EE2AB9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680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825" b="0">
                <a:solidFill>
                  <a:srgbClr val="656779"/>
                </a:solidFill>
                <a:latin typeface="Noto Sans CJK SC"/>
                <a:ea typeface="Noto Sans CJK SC"/>
                <a:cs typeface="Noto Sans CJK SC"/>
              </a:defRPr>
            </a:pPr>
            <a:endParaRPr sz="825" b="0" dirty="0">
              <a:solidFill>
                <a:srgbClr val="65677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604272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让来料信息与运输安排&#10;在发运前对齐">
            <a:extLst>
              <a:ext uri="{FF2B5EF4-FFF2-40B4-BE49-F238E27FC236}">
                <a16:creationId xmlns:a16="http://schemas.microsoft.com/office/drawing/2014/main" id="{28A3D00A-A514-45D4-9C04-CA2FCC8F1401}"/>
              </a:ext>
            </a:extLst>
          </p:cNvPr>
          <p:cNvSpPr>
            <a:spLocks noGrp="1"/>
          </p:cNvSpPr>
          <p:nvPr/>
        </p:nvSpPr>
        <p:spPr>
          <a:xfrm>
            <a:off x="590550" y="1514475"/>
            <a:ext cx="7905750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让来料信息与运输安排</a:t>
            </a:r>
          </a:p>
          <a:p>
            <a: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在发运前对齐</a:t>
            </a:r>
          </a:p>
        </p:txBody>
      </p:sp>
      <p:sp>
        <p:nvSpPr>
          <p:cNvPr id="2" name="下一步：确定合作点位与数据，完成可回放的">
            <a:extLst>
              <a:ext uri="{FF2B5EF4-FFF2-40B4-BE49-F238E27FC236}">
                <a16:creationId xmlns:a16="http://schemas.microsoft.com/office/drawing/2014/main" id="{CCD0BAF4-92C2-4959-9BF6-82C373C95422}"/>
              </a:ext>
            </a:extLst>
          </p:cNvPr>
          <p:cNvSpPr>
            <a:spLocks noGrp="1"/>
          </p:cNvSpPr>
          <p:nvPr/>
        </p:nvSpPr>
        <p:spPr>
          <a:xfrm>
            <a:off x="619125" y="3057525"/>
            <a:ext cx="781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下一步：确定合作点位与数据，完成可回放的调度原型</a:t>
            </a:r>
          </a:p>
        </p:txBody>
      </p:sp>
      <p:sp>
        <p:nvSpPr>
          <p:cNvPr id="3" name="谢谢，欢迎讨论">
            <a:extLst>
              <a:ext uri="{FF2B5EF4-FFF2-40B4-BE49-F238E27FC236}">
                <a16:creationId xmlns:a16="http://schemas.microsoft.com/office/drawing/2014/main" id="{9379E997-36C7-49AC-9FA6-96DE82C3DCF3}"/>
              </a:ext>
            </a:extLst>
          </p:cNvPr>
          <p:cNvSpPr>
            <a:spLocks noGrp="1"/>
          </p:cNvSpPr>
          <p:nvPr/>
        </p:nvSpPr>
        <p:spPr>
          <a:xfrm>
            <a:off x="619125" y="4438650"/>
            <a:ext cx="571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谢谢，欢迎讨论</a:t>
            </a:r>
          </a:p>
        </p:txBody>
      </p:sp>
    </p:spTree>
    <p:extLst>
      <p:ext uri="{BB962C8B-B14F-4D97-AF65-F5344CB8AC3E}">
        <p14:creationId xmlns:p14="http://schemas.microsoft.com/office/powerpoint/2010/main" val="835836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DocSecurity>0</DocSecurity>
  <PresentationFormat>On-screen Show (16:9)</PresentationFormat>
  <Paragraphs>201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Noto Sans CJK SC</vt:lpstr>
      <vt:lpstr>黑体</vt:lpstr>
      <vt:lpstr>Source Han Sans CN Bold</vt:lpstr>
      <vt:lpstr>Source Han Sans CN Medium</vt:lpstr>
      <vt:lpstr>Source Han Sans CN Normal</vt:lpstr>
      <vt:lpstr>Source Han Sans CN Regular</vt:lpstr>
      <vt:lpstr>思源黑体 CN Bold</vt:lpstr>
      <vt:lpstr>思源黑体 CN Normal</vt:lpstr>
      <vt:lpstr>Aptos</vt:lpstr>
      <vt:lpstr>Aptos Display</vt:lpstr>
      <vt:lpstr>Arial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伯阳 李</cp:lastModifiedBy>
  <cp:revision>1</cp:revision>
  <dcterms:created xsi:type="dcterms:W3CDTF">2026-10-19T07:58:51Z</dcterms:created>
  <dcterms:modified xsi:type="dcterms:W3CDTF">2026-10-19T08:26:01Z</dcterms:modified>
</cp:coreProperties>
</file>